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 id="2147483748" r:id="rId2"/>
  </p:sldMasterIdLst>
  <p:sldIdLst>
    <p:sldId id="256" r:id="rId3"/>
    <p:sldId id="257" r:id="rId4"/>
    <p:sldId id="258" r:id="rId5"/>
    <p:sldId id="259" r:id="rId6"/>
    <p:sldId id="276" r:id="rId7"/>
    <p:sldId id="261" r:id="rId8"/>
    <p:sldId id="262" r:id="rId9"/>
    <p:sldId id="272" r:id="rId10"/>
    <p:sldId id="273" r:id="rId11"/>
    <p:sldId id="265" r:id="rId12"/>
    <p:sldId id="264" r:id="rId13"/>
    <p:sldId id="266" r:id="rId14"/>
    <p:sldId id="267" r:id="rId15"/>
    <p:sldId id="268" r:id="rId16"/>
    <p:sldId id="269" r:id="rId17"/>
    <p:sldId id="270" r:id="rId18"/>
    <p:sldId id="271"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Q Lap" initials="HL" lastIdx="1" clrIdx="0">
    <p:extLst>
      <p:ext uri="{19B8F6BF-5375-455C-9EA6-DF929625EA0E}">
        <p15:presenceInfo xmlns:p15="http://schemas.microsoft.com/office/powerpoint/2012/main" userId="dc929c89550d50f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4"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2-11T23:26:34.755" idx="1">
    <p:pos x="10" y="10"/>
    <p:text/>
    <p:extLst>
      <p:ext uri="{C676402C-5697-4E1C-873F-D02D1690AC5C}">
        <p15:threadingInfo xmlns:p15="http://schemas.microsoft.com/office/powerpoint/2012/main" timeZoneBias="-42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883966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4003073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37415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3802A1-4655-4533-A75C-13AEA13BDC7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323991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3802A1-4655-4533-A75C-13AEA13BDC75}"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888212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3802A1-4655-4533-A75C-13AEA13BDC75}"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856888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3802A1-4655-4533-A75C-13AEA13BDC75}"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403948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03802A1-4655-4533-A75C-13AEA13BDC7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2779581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03802A1-4655-4533-A75C-13AEA13BDC7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3559065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03802A1-4655-4533-A75C-13AEA13BDC7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922759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816843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226927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93819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207611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949888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40788442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9681189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2345584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62021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392145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3802A1-4655-4533-A75C-13AEA13BDC7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589380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3802A1-4655-4533-A75C-13AEA13BDC75}"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6127840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3802A1-4655-4533-A75C-13AEA13BDC75}"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9079903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3802A1-4655-4533-A75C-13AEA13BDC75}"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2695328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3802A1-4655-4533-A75C-13AEA13BDC7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7327977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EE4755-5800-4D19-9977-3ED470A2E23F}" type="slidenum">
              <a:rPr lang="en-US" smtClean="0"/>
              <a:t>‹#›</a:t>
            </a:fld>
            <a:endParaRPr lang="en-US"/>
          </a:p>
        </p:txBody>
      </p:sp>
      <p:sp>
        <p:nvSpPr>
          <p:cNvPr id="5" name="Date Placeholder 4"/>
          <p:cNvSpPr>
            <a:spLocks noGrp="1"/>
          </p:cNvSpPr>
          <p:nvPr>
            <p:ph type="dt" sz="half" idx="10"/>
          </p:nvPr>
        </p:nvSpPr>
        <p:spPr/>
        <p:txBody>
          <a:bodyPr/>
          <a:lstStyle/>
          <a:p>
            <a:fld id="{C03802A1-4655-4533-A75C-13AEA13BDC75}" type="datetimeFigureOut">
              <a:rPr lang="en-US" smtClean="0"/>
              <a:t>12/12/2025</a:t>
            </a:fld>
            <a:endParaRPr lang="en-US"/>
          </a:p>
        </p:txBody>
      </p:sp>
    </p:spTree>
    <p:extLst>
      <p:ext uri="{BB962C8B-B14F-4D97-AF65-F5344CB8AC3E}">
        <p14:creationId xmlns:p14="http://schemas.microsoft.com/office/powerpoint/2010/main" val="18563663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2025316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53337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24623759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86935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9220380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711396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802A1-4655-4533-A75C-13AEA13BDC7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EE4755-5800-4D19-9977-3ED470A2E23F}" type="slidenum">
              <a:rPr lang="en-US" smtClean="0"/>
              <a:t>‹#›</a:t>
            </a:fld>
            <a:endParaRPr lang="en-US"/>
          </a:p>
        </p:txBody>
      </p:sp>
    </p:spTree>
    <p:extLst>
      <p:ext uri="{BB962C8B-B14F-4D97-AF65-F5344CB8AC3E}">
        <p14:creationId xmlns:p14="http://schemas.microsoft.com/office/powerpoint/2010/main" val="1157018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03802A1-4655-4533-A75C-13AEA13BDC75}" type="datetimeFigureOut">
              <a:rPr lang="en-US" smtClean="0"/>
              <a:t>12/12/2025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0EE4755-5800-4D19-9977-3ED470A2E23F}" type="slidenum">
              <a:rPr lang="en-US" smtClean="0"/>
              <a:t>‹#›</a:t>
            </a:fld>
            <a:endParaRPr lang="en-US"/>
          </a:p>
        </p:txBody>
      </p:sp>
    </p:spTree>
    <p:extLst>
      <p:ext uri="{BB962C8B-B14F-4D97-AF65-F5344CB8AC3E}">
        <p14:creationId xmlns:p14="http://schemas.microsoft.com/office/powerpoint/2010/main" val="3967547234"/>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03802A1-4655-4533-A75C-13AEA13BDC75}" type="datetimeFigureOut">
              <a:rPr lang="en-US" smtClean="0"/>
              <a:t>12/12/2025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0EE4755-5800-4D19-9977-3ED470A2E23F}" type="slidenum">
              <a:rPr lang="en-US" smtClean="0"/>
              <a:t>‹#›</a:t>
            </a:fld>
            <a:endParaRPr lang="en-US"/>
          </a:p>
        </p:txBody>
      </p:sp>
    </p:spTree>
    <p:extLst>
      <p:ext uri="{BB962C8B-B14F-4D97-AF65-F5344CB8AC3E}">
        <p14:creationId xmlns:p14="http://schemas.microsoft.com/office/powerpoint/2010/main" val="1419736756"/>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CA0D2251-7AFE-1B36-778C-D116EDBB7FDE}"/>
              </a:ext>
            </a:extLst>
          </p:cNvPr>
          <p:cNvSpPr>
            <a:spLocks noGrp="1"/>
          </p:cNvSpPr>
          <p:nvPr>
            <p:ph type="subTitle" idx="1"/>
          </p:nvPr>
        </p:nvSpPr>
        <p:spPr>
          <a:xfrm>
            <a:off x="5593213" y="4935894"/>
            <a:ext cx="7046656" cy="1922106"/>
          </a:xfrm>
        </p:spPr>
        <p:txBody>
          <a:bodyPr>
            <a:normAutofit/>
          </a:bodyPr>
          <a:lstStyle/>
          <a:p>
            <a:pPr algn="l" rtl="0">
              <a:spcBef>
                <a:spcPts val="0"/>
              </a:spcBef>
              <a:spcAft>
                <a:spcPts val="0"/>
              </a:spcAft>
            </a:pPr>
            <a:r>
              <a:rPr lang="en-US" sz="2400" b="1">
                <a:solidFill>
                  <a:schemeClr val="bg2">
                    <a:lumMod val="10000"/>
                  </a:schemeClr>
                </a:solidFill>
                <a:latin typeface="Arial" panose="020B0604020202020204" pitchFamily="34" charset="0"/>
                <a:cs typeface="Arial" panose="020B0604020202020204" pitchFamily="34" charset="0"/>
              </a:rPr>
              <a:t>H</a:t>
            </a:r>
            <a:r>
              <a:rPr lang="vi-VN" sz="2400" b="1" i="0" u="none" strike="noStrike">
                <a:solidFill>
                  <a:schemeClr val="bg2">
                    <a:lumMod val="10000"/>
                  </a:schemeClr>
                </a:solidFill>
                <a:effectLst/>
                <a:latin typeface="Arial" panose="020B0604020202020204" pitchFamily="34" charset="0"/>
                <a:cs typeface="Arial" panose="020B0604020202020204" pitchFamily="34" charset="0"/>
              </a:rPr>
              <a:t>ọc </a:t>
            </a:r>
            <a:r>
              <a:rPr lang="en-US" sz="2400" b="1" i="0" u="none" strike="noStrike">
                <a:solidFill>
                  <a:schemeClr val="bg2">
                    <a:lumMod val="10000"/>
                  </a:schemeClr>
                </a:solidFill>
                <a:effectLst/>
                <a:latin typeface="Arial" panose="020B0604020202020204" pitchFamily="34" charset="0"/>
                <a:cs typeface="Arial" panose="020B0604020202020204" pitchFamily="34" charset="0"/>
              </a:rPr>
              <a:t>P</a:t>
            </a:r>
            <a:r>
              <a:rPr lang="vi-VN" sz="2400" b="1" i="0" u="none" strike="noStrike">
                <a:solidFill>
                  <a:schemeClr val="bg2">
                    <a:lumMod val="10000"/>
                  </a:schemeClr>
                </a:solidFill>
                <a:effectLst/>
                <a:latin typeface="Arial" panose="020B0604020202020204" pitchFamily="34" charset="0"/>
                <a:cs typeface="Arial" panose="020B0604020202020204" pitchFamily="34" charset="0"/>
              </a:rPr>
              <a:t>hần</a:t>
            </a:r>
            <a:r>
              <a:rPr lang="en-US" sz="2400" b="1" i="0" u="none" strike="noStrike">
                <a:solidFill>
                  <a:schemeClr val="bg2">
                    <a:lumMod val="10000"/>
                  </a:schemeClr>
                </a:solidFill>
                <a:effectLst/>
                <a:latin typeface="Arial" panose="020B0604020202020204" pitchFamily="34" charset="0"/>
                <a:cs typeface="Arial" panose="020B0604020202020204" pitchFamily="34" charset="0"/>
              </a:rPr>
              <a:t>                         </a:t>
            </a:r>
            <a:r>
              <a:rPr lang="vi-VN" sz="2400" b="1" i="0" u="none" strike="noStrike">
                <a:solidFill>
                  <a:schemeClr val="bg2">
                    <a:lumMod val="10000"/>
                  </a:schemeClr>
                </a:solidFill>
                <a:effectLst/>
                <a:latin typeface="Arial" panose="020B0604020202020204" pitchFamily="34" charset="0"/>
                <a:cs typeface="Arial" panose="020B0604020202020204" pitchFamily="34" charset="0"/>
              </a:rPr>
              <a:t>: </a:t>
            </a:r>
            <a:r>
              <a:rPr lang="en-US" sz="2400" b="1" i="0" u="none" strike="noStrike">
                <a:solidFill>
                  <a:schemeClr val="bg2">
                    <a:lumMod val="10000"/>
                  </a:schemeClr>
                </a:solidFill>
                <a:effectLst/>
                <a:latin typeface="Arial" panose="020B0604020202020204" pitchFamily="34" charset="0"/>
                <a:cs typeface="Arial" panose="020B0604020202020204" pitchFamily="34" charset="0"/>
              </a:rPr>
              <a:t>T</a:t>
            </a:r>
            <a:r>
              <a:rPr lang="vi-VN" sz="2400" b="1" i="0" u="none" strike="noStrike">
                <a:solidFill>
                  <a:schemeClr val="bg2">
                    <a:lumMod val="10000"/>
                  </a:schemeClr>
                </a:solidFill>
                <a:effectLst/>
                <a:latin typeface="Arial" panose="020B0604020202020204" pitchFamily="34" charset="0"/>
                <a:cs typeface="Arial" panose="020B0604020202020204" pitchFamily="34" charset="0"/>
              </a:rPr>
              <a:t>rí </a:t>
            </a:r>
            <a:r>
              <a:rPr lang="en-US" sz="2400" b="1" i="0" u="none" strike="noStrike">
                <a:solidFill>
                  <a:schemeClr val="bg2">
                    <a:lumMod val="10000"/>
                  </a:schemeClr>
                </a:solidFill>
                <a:effectLst/>
                <a:latin typeface="Arial" panose="020B0604020202020204" pitchFamily="34" charset="0"/>
                <a:cs typeface="Arial" panose="020B0604020202020204" pitchFamily="34" charset="0"/>
              </a:rPr>
              <a:t>T</a:t>
            </a:r>
            <a:r>
              <a:rPr lang="vi-VN" sz="2400" b="1" i="0" u="none" strike="noStrike">
                <a:solidFill>
                  <a:schemeClr val="bg2">
                    <a:lumMod val="10000"/>
                  </a:schemeClr>
                </a:solidFill>
                <a:effectLst/>
                <a:latin typeface="Arial" panose="020B0604020202020204" pitchFamily="34" charset="0"/>
                <a:cs typeface="Arial" panose="020B0604020202020204" pitchFamily="34" charset="0"/>
              </a:rPr>
              <a:t>uệ </a:t>
            </a:r>
            <a:r>
              <a:rPr lang="en-US" sz="2400" b="1" i="0" u="none" strike="noStrike">
                <a:solidFill>
                  <a:schemeClr val="bg2">
                    <a:lumMod val="10000"/>
                  </a:schemeClr>
                </a:solidFill>
                <a:effectLst/>
                <a:latin typeface="Arial" panose="020B0604020202020204" pitchFamily="34" charset="0"/>
                <a:cs typeface="Arial" panose="020B0604020202020204" pitchFamily="34" charset="0"/>
              </a:rPr>
              <a:t>N</a:t>
            </a:r>
            <a:r>
              <a:rPr lang="vi-VN" sz="2400" b="1" i="0" u="none" strike="noStrike">
                <a:solidFill>
                  <a:schemeClr val="bg2">
                    <a:lumMod val="10000"/>
                  </a:schemeClr>
                </a:solidFill>
                <a:effectLst/>
                <a:latin typeface="Arial" panose="020B0604020202020204" pitchFamily="34" charset="0"/>
                <a:cs typeface="Arial" panose="020B0604020202020204" pitchFamily="34" charset="0"/>
              </a:rPr>
              <a:t>hân </a:t>
            </a:r>
            <a:r>
              <a:rPr lang="en-US" sz="2400" b="1" i="0" u="none" strike="noStrike">
                <a:solidFill>
                  <a:schemeClr val="bg2">
                    <a:lumMod val="10000"/>
                  </a:schemeClr>
                </a:solidFill>
                <a:effectLst/>
                <a:latin typeface="Arial" panose="020B0604020202020204" pitchFamily="34" charset="0"/>
                <a:cs typeface="Arial" panose="020B0604020202020204" pitchFamily="34" charset="0"/>
              </a:rPr>
              <a:t>T</a:t>
            </a:r>
            <a:r>
              <a:rPr lang="vi-VN" sz="2400" b="1" i="0" u="none" strike="noStrike">
                <a:solidFill>
                  <a:schemeClr val="bg2">
                    <a:lumMod val="10000"/>
                  </a:schemeClr>
                </a:solidFill>
                <a:effectLst/>
                <a:latin typeface="Arial" panose="020B0604020202020204" pitchFamily="34" charset="0"/>
                <a:cs typeface="Arial" panose="020B0604020202020204" pitchFamily="34" charset="0"/>
              </a:rPr>
              <a:t>ạo</a:t>
            </a:r>
            <a:endParaRPr lang="en-US" sz="2400" b="1">
              <a:solidFill>
                <a:schemeClr val="bg2">
                  <a:lumMod val="10000"/>
                </a:schemeClr>
              </a:solidFill>
              <a:latin typeface="Arial" panose="020B0604020202020204" pitchFamily="34" charset="0"/>
              <a:cs typeface="Arial" panose="020B0604020202020204" pitchFamily="34" charset="0"/>
            </a:endParaRPr>
          </a:p>
          <a:p>
            <a:pPr algn="l" rtl="0">
              <a:spcBef>
                <a:spcPts val="0"/>
              </a:spcBef>
              <a:spcAft>
                <a:spcPts val="0"/>
              </a:spcAft>
            </a:pPr>
            <a:r>
              <a:rPr lang="en-US" sz="2400" b="1">
                <a:solidFill>
                  <a:schemeClr val="bg2">
                    <a:lumMod val="10000"/>
                  </a:schemeClr>
                </a:solidFill>
                <a:latin typeface="Arial" panose="020B0604020202020204" pitchFamily="34" charset="0"/>
                <a:cs typeface="Arial" panose="020B0604020202020204" pitchFamily="34" charset="0"/>
              </a:rPr>
              <a:t>Giảng viên hướng dẫn   : Trần Thanh Huân</a:t>
            </a:r>
            <a:endParaRPr lang="en-US" sz="2400" b="1" i="0" u="none" strike="noStrike">
              <a:solidFill>
                <a:schemeClr val="bg2">
                  <a:lumMod val="10000"/>
                </a:schemeClr>
              </a:solidFill>
              <a:effectLst/>
              <a:latin typeface="Arial" panose="020B0604020202020204" pitchFamily="34" charset="0"/>
              <a:cs typeface="Arial" panose="020B0604020202020204" pitchFamily="34" charset="0"/>
            </a:endParaRPr>
          </a:p>
          <a:p>
            <a:pPr algn="l">
              <a:spcBef>
                <a:spcPts val="0"/>
              </a:spcBef>
              <a:spcAft>
                <a:spcPts val="0"/>
              </a:spcAft>
            </a:pPr>
            <a:r>
              <a:rPr lang="en-US" sz="2400" b="1">
                <a:solidFill>
                  <a:schemeClr val="bg2">
                    <a:lumMod val="10000"/>
                  </a:schemeClr>
                </a:solidFill>
                <a:effectLst/>
                <a:latin typeface="Arial" panose="020B0604020202020204" pitchFamily="34" charset="0"/>
                <a:cs typeface="Arial" panose="020B0604020202020204" pitchFamily="34" charset="0"/>
              </a:rPr>
              <a:t>Lớp                                   : </a:t>
            </a:r>
            <a:r>
              <a:rPr lang="en-US" sz="2400" b="1">
                <a:latin typeface="Arial" panose="020B0604020202020204" pitchFamily="34" charset="0"/>
                <a:cs typeface="Arial" panose="020B0604020202020204" pitchFamily="34" charset="0"/>
              </a:rPr>
              <a:t>20251IT6094005</a:t>
            </a:r>
          </a:p>
          <a:p>
            <a:pPr algn="l">
              <a:spcBef>
                <a:spcPts val="0"/>
              </a:spcBef>
              <a:spcAft>
                <a:spcPts val="0"/>
              </a:spcAft>
            </a:pPr>
            <a:r>
              <a:rPr lang="en-US" sz="2400" b="1">
                <a:latin typeface="Arial" panose="020B0604020202020204" pitchFamily="34" charset="0"/>
                <a:cs typeface="Arial" panose="020B0604020202020204" pitchFamily="34" charset="0"/>
              </a:rPr>
              <a:t>Khóa                                 : K18</a:t>
            </a:r>
          </a:p>
          <a:p>
            <a:pPr algn="l" rtl="0">
              <a:spcBef>
                <a:spcPts val="0"/>
              </a:spcBef>
              <a:spcAft>
                <a:spcPts val="0"/>
              </a:spcAft>
            </a:pPr>
            <a:endParaRPr lang="vi-VN" sz="2000" b="1" dirty="0">
              <a:solidFill>
                <a:schemeClr val="bg2">
                  <a:lumMod val="10000"/>
                </a:schemeClr>
              </a:solidFill>
              <a:effectLst/>
              <a:latin typeface="Arial" panose="020B0604020202020204" pitchFamily="34" charset="0"/>
              <a:cs typeface="Arial" panose="020B0604020202020204" pitchFamily="34" charset="0"/>
            </a:endParaRPr>
          </a:p>
        </p:txBody>
      </p:sp>
      <p:pic>
        <p:nvPicPr>
          <p:cNvPr id="6" name="Picture 2" descr="Biểu tượng - Logo - [Logo Đại học Công nghiệp Hà Nội] Ý ...">
            <a:extLst>
              <a:ext uri="{FF2B5EF4-FFF2-40B4-BE49-F238E27FC236}">
                <a16:creationId xmlns:a16="http://schemas.microsoft.com/office/drawing/2014/main" id="{74D7D2D6-D0DE-49E3-BF58-BB3C91C386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6188" y="0"/>
            <a:ext cx="1405812" cy="140581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A7C140C-2F30-4480-9CA7-1B0D8B8CBCBF}"/>
              </a:ext>
            </a:extLst>
          </p:cNvPr>
          <p:cNvSpPr txBox="1"/>
          <p:nvPr/>
        </p:nvSpPr>
        <p:spPr>
          <a:xfrm>
            <a:off x="2246032" y="1508003"/>
            <a:ext cx="8661454" cy="2554545"/>
          </a:xfrm>
          <a:prstGeom prst="rect">
            <a:avLst/>
          </a:prstGeom>
          <a:noFill/>
        </p:spPr>
        <p:txBody>
          <a:bodyPr wrap="square">
            <a:spAutoFit/>
          </a:bodyPr>
          <a:lstStyle/>
          <a:p>
            <a:pPr algn="ctr"/>
            <a:r>
              <a:rPr lang="vi-VN" sz="3200" b="1" i="0" u="none" strike="noStrike">
                <a:solidFill>
                  <a:schemeClr val="bg2">
                    <a:lumMod val="10000"/>
                  </a:schemeClr>
                </a:solidFill>
                <a:effectLst/>
                <a:cs typeface="Times New Roman" panose="02020603050405020304" pitchFamily="18" charset="0"/>
              </a:rPr>
              <a:t>ĐỀ  TÀI</a:t>
            </a:r>
            <a:r>
              <a:rPr lang="en-US" sz="3200" i="0" u="none" strike="noStrike" dirty="0">
                <a:solidFill>
                  <a:schemeClr val="bg2">
                    <a:lumMod val="10000"/>
                  </a:schemeClr>
                </a:solidFill>
                <a:cs typeface="Times New Roman" panose="02020603050405020304" pitchFamily="18" charset="0"/>
              </a:rPr>
              <a:t>:</a:t>
            </a:r>
            <a:br>
              <a:rPr lang="vi-VN" sz="3200" b="0">
                <a:solidFill>
                  <a:schemeClr val="bg2">
                    <a:lumMod val="10000"/>
                  </a:schemeClr>
                </a:solidFill>
                <a:effectLst/>
                <a:cs typeface="Times New Roman" panose="02020603050405020304" pitchFamily="18" charset="0"/>
              </a:rPr>
            </a:br>
            <a:r>
              <a:rPr lang="en-US" sz="3200" b="1">
                <a:latin typeface="Arial" panose="020B0604020202020204" pitchFamily="34" charset="0"/>
                <a:cs typeface="Arial" panose="020B0604020202020204" pitchFamily="34" charset="0"/>
              </a:rPr>
              <a:t>TÌM HIỂU THUẬT TOÁN NAIVE BAYES VÀ ỨNG DỤNG TRONG BÀI TOÁN CHUẨN ĐOÁN BỆNH TIỂU ĐƯỜNG</a:t>
            </a:r>
            <a:endParaRPr lang="en-US" sz="3200">
              <a:latin typeface="Arial" panose="020B0604020202020204" pitchFamily="34" charset="0"/>
              <a:cs typeface="Arial" panose="020B0604020202020204" pitchFamily="34" charset="0"/>
            </a:endParaRPr>
          </a:p>
          <a:p>
            <a:pPr algn="ctr" rtl="0">
              <a:spcBef>
                <a:spcPts val="0"/>
              </a:spcBef>
              <a:spcAft>
                <a:spcPts val="0"/>
              </a:spcAft>
            </a:pPr>
            <a:endParaRPr lang="vi-VN" sz="3200" dirty="0">
              <a:solidFill>
                <a:schemeClr val="bg2">
                  <a:lumMod val="10000"/>
                </a:schemeClr>
              </a:solidFill>
              <a:cs typeface="Times New Roman" panose="02020603050405020304" pitchFamily="18" charset="0"/>
            </a:endParaRPr>
          </a:p>
        </p:txBody>
      </p:sp>
      <p:sp>
        <p:nvSpPr>
          <p:cNvPr id="2" name="Title 1">
            <a:extLst>
              <a:ext uri="{FF2B5EF4-FFF2-40B4-BE49-F238E27FC236}">
                <a16:creationId xmlns:a16="http://schemas.microsoft.com/office/drawing/2014/main" id="{744A3FA8-77A0-C548-68E1-EB4A9001A553}"/>
              </a:ext>
            </a:extLst>
          </p:cNvPr>
          <p:cNvSpPr txBox="1">
            <a:spLocks/>
          </p:cNvSpPr>
          <p:nvPr/>
        </p:nvSpPr>
        <p:spPr>
          <a:xfrm>
            <a:off x="2376760" y="259928"/>
            <a:ext cx="375771" cy="403572"/>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Bef>
                <a:spcPts val="0"/>
              </a:spcBef>
            </a:pPr>
            <a:endParaRPr lang="en-US" sz="2000" dirty="0">
              <a:solidFill>
                <a:schemeClr val="bg2">
                  <a:lumMod val="10000"/>
                </a:schemeClr>
              </a:solidFill>
              <a:latin typeface="+mn-lt"/>
              <a:cs typeface="Times New Roman" panose="02020603050405020304" pitchFamily="18" charset="0"/>
            </a:endParaRPr>
          </a:p>
        </p:txBody>
      </p:sp>
      <p:sp>
        <p:nvSpPr>
          <p:cNvPr id="10" name="Parallelogram 9">
            <a:extLst>
              <a:ext uri="{FF2B5EF4-FFF2-40B4-BE49-F238E27FC236}">
                <a16:creationId xmlns:a16="http://schemas.microsoft.com/office/drawing/2014/main" id="{8CF01BAC-7039-B2AF-E7BD-D6C968D877F4}"/>
              </a:ext>
            </a:extLst>
          </p:cNvPr>
          <p:cNvSpPr/>
          <p:nvPr/>
        </p:nvSpPr>
        <p:spPr>
          <a:xfrm>
            <a:off x="-307911" y="612645"/>
            <a:ext cx="3956180" cy="94621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43B8BB83-CA62-C813-5584-9F9C32557A2B}"/>
              </a:ext>
            </a:extLst>
          </p:cNvPr>
          <p:cNvSpPr>
            <a:spLocks noGrp="1"/>
          </p:cNvSpPr>
          <p:nvPr>
            <p:ph type="ctrTitle"/>
          </p:nvPr>
        </p:nvSpPr>
        <p:spPr>
          <a:xfrm>
            <a:off x="463964" y="773670"/>
            <a:ext cx="2100681" cy="624163"/>
          </a:xfrm>
        </p:spPr>
        <p:txBody>
          <a:bodyPr>
            <a:noAutofit/>
          </a:bodyPr>
          <a:lstStyle/>
          <a:p>
            <a:pPr algn="ctr" rtl="0">
              <a:spcBef>
                <a:spcPts val="0"/>
              </a:spcBef>
              <a:spcAft>
                <a:spcPts val="0"/>
              </a:spcAft>
            </a:pPr>
            <a:r>
              <a:rPr lang="en-US" sz="3200" b="1">
                <a:solidFill>
                  <a:schemeClr val="bg2">
                    <a:lumMod val="10000"/>
                  </a:schemeClr>
                </a:solidFill>
                <a:latin typeface="Arial" panose="020B0604020202020204" pitchFamily="34" charset="0"/>
                <a:cs typeface="Arial" panose="020B0604020202020204" pitchFamily="34" charset="0"/>
              </a:rPr>
              <a:t>NHÓM 8</a:t>
            </a:r>
            <a:endParaRPr lang="en-US" sz="3200" b="1" dirty="0">
              <a:solidFill>
                <a:schemeClr val="bg2">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520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45878135-3F5C-BB53-0082-122956799B79}"/>
              </a:ext>
            </a:extLst>
          </p:cNvPr>
          <p:cNvSpPr txBox="1">
            <a:spLocks/>
          </p:cNvSpPr>
          <p:nvPr/>
        </p:nvSpPr>
        <p:spPr>
          <a:xfrm>
            <a:off x="3689684" y="0"/>
            <a:ext cx="7315200" cy="2165684"/>
          </a:xfrm>
          <a:prstGeom prst="rect">
            <a:avLst/>
          </a:prstGeom>
          <a:effectLst/>
        </p:spPr>
        <p:txBody>
          <a:bodyPr vert="horz" lIns="91440" tIns="45720" rIns="91440" bIns="45720" rtlCol="0" anchor="b">
            <a:normAutofit/>
          </a:bodyPr>
          <a:lstStyle>
            <a:lvl1pPr algn="r" defTabSz="4572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220000"/>
              </a:lnSpc>
              <a:spcBef>
                <a:spcPts val="0"/>
              </a:spcBef>
            </a:pPr>
            <a:endParaRPr lang="vi-VN" sz="1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DECF4A0-6695-5E1D-1F76-21F6D487B75C}"/>
              </a:ext>
            </a:extLst>
          </p:cNvPr>
          <p:cNvSpPr txBox="1"/>
          <p:nvPr/>
        </p:nvSpPr>
        <p:spPr>
          <a:xfrm>
            <a:off x="2040760" y="790454"/>
            <a:ext cx="4509330" cy="584775"/>
          </a:xfrm>
          <a:prstGeom prst="rect">
            <a:avLst/>
          </a:prstGeom>
          <a:noFill/>
        </p:spPr>
        <p:txBody>
          <a:bodyPr wrap="square">
            <a:spAutoFit/>
          </a:bodyPr>
          <a:lstStyle/>
          <a:p>
            <a:pPr algn="ctr" rtl="0">
              <a:spcBef>
                <a:spcPts val="0"/>
              </a:spcBef>
              <a:spcAft>
                <a:spcPts val="0"/>
              </a:spcAft>
            </a:pPr>
            <a:r>
              <a:rPr lang="en-US" sz="3200" b="1">
                <a:solidFill>
                  <a:schemeClr val="bg2">
                    <a:lumMod val="10000"/>
                  </a:schemeClr>
                </a:solidFill>
                <a:latin typeface="Arial" panose="020B0604020202020204" pitchFamily="34" charset="0"/>
                <a:cs typeface="Arial" panose="020B0604020202020204" pitchFamily="34" charset="0"/>
              </a:rPr>
              <a:t>THÀNH VIÊN NHÓM 8</a:t>
            </a:r>
            <a:endParaRPr lang="vi-VN" sz="3200" b="1" dirty="0">
              <a:solidFill>
                <a:schemeClr val="bg2">
                  <a:lumMod val="10000"/>
                </a:schemeClr>
              </a:solidFill>
              <a:latin typeface="Arial" panose="020B0604020202020204" pitchFamily="34" charset="0"/>
              <a:cs typeface="Arial" panose="020B0604020202020204" pitchFamily="34" charset="0"/>
            </a:endParaRPr>
          </a:p>
        </p:txBody>
      </p:sp>
      <p:sp>
        <p:nvSpPr>
          <p:cNvPr id="14" name="Parallelogram 13">
            <a:extLst>
              <a:ext uri="{FF2B5EF4-FFF2-40B4-BE49-F238E27FC236}">
                <a16:creationId xmlns:a16="http://schemas.microsoft.com/office/drawing/2014/main" id="{B8B9DBBA-555F-BD9B-405F-BA4222349E0D}"/>
              </a:ext>
            </a:extLst>
          </p:cNvPr>
          <p:cNvSpPr/>
          <p:nvPr/>
        </p:nvSpPr>
        <p:spPr>
          <a:xfrm>
            <a:off x="4292082" y="1864238"/>
            <a:ext cx="6712802" cy="5847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607EA8A-A868-1CEE-F2E4-1B2A4AF2694E}"/>
              </a:ext>
            </a:extLst>
          </p:cNvPr>
          <p:cNvSpPr txBox="1"/>
          <p:nvPr/>
        </p:nvSpPr>
        <p:spPr>
          <a:xfrm>
            <a:off x="4860474" y="1805798"/>
            <a:ext cx="5991028" cy="586699"/>
          </a:xfrm>
          <a:prstGeom prst="rect">
            <a:avLst/>
          </a:prstGeom>
          <a:noFill/>
        </p:spPr>
        <p:txBody>
          <a:bodyPr wrap="square">
            <a:spAutoFit/>
          </a:bodyPr>
          <a:lstStyle/>
          <a:p>
            <a:pPr lvl="0" algn="just">
              <a:lnSpc>
                <a:spcPct val="150000"/>
              </a:lnSpc>
              <a:defRPr/>
            </a:pPr>
            <a:r>
              <a:rPr lang="vi-VN" sz="2400"/>
              <a:t>Phạm Quang Trung</a:t>
            </a:r>
            <a:r>
              <a:rPr lang="en-US" sz="2400"/>
              <a:t> </a:t>
            </a:r>
            <a:r>
              <a:rPr lang="en-US" sz="2400">
                <a:latin typeface="Arial" panose="020B0604020202020204" pitchFamily="34" charset="0"/>
                <a:cs typeface="Arial" panose="020B0604020202020204" pitchFamily="34" charset="0"/>
              </a:rPr>
              <a:t>- 2023607299</a:t>
            </a:r>
            <a:endParaRPr lang="en-US" sz="2400" dirty="0">
              <a:latin typeface="Arial" panose="020B0604020202020204" pitchFamily="34" charset="0"/>
              <a:cs typeface="Arial" panose="020B0604020202020204" pitchFamily="34" charset="0"/>
            </a:endParaRPr>
          </a:p>
        </p:txBody>
      </p:sp>
      <p:sp>
        <p:nvSpPr>
          <p:cNvPr id="16" name="Parallelogram 15">
            <a:extLst>
              <a:ext uri="{FF2B5EF4-FFF2-40B4-BE49-F238E27FC236}">
                <a16:creationId xmlns:a16="http://schemas.microsoft.com/office/drawing/2014/main" id="{345354EE-0258-AC73-2D77-D2D1C0733AE3}"/>
              </a:ext>
            </a:extLst>
          </p:cNvPr>
          <p:cNvSpPr/>
          <p:nvPr/>
        </p:nvSpPr>
        <p:spPr>
          <a:xfrm>
            <a:off x="4292081" y="2648433"/>
            <a:ext cx="6712801" cy="5847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526945D-3118-6DCB-F53F-AD74EBC408ED}"/>
              </a:ext>
            </a:extLst>
          </p:cNvPr>
          <p:cNvSpPr txBox="1"/>
          <p:nvPr/>
        </p:nvSpPr>
        <p:spPr>
          <a:xfrm>
            <a:off x="4860474" y="2626416"/>
            <a:ext cx="5683118" cy="586699"/>
          </a:xfrm>
          <a:prstGeom prst="rect">
            <a:avLst/>
          </a:prstGeom>
          <a:noFill/>
        </p:spPr>
        <p:txBody>
          <a:bodyPr wrap="square">
            <a:spAutoFit/>
          </a:bodyPr>
          <a:lstStyle/>
          <a:p>
            <a:pPr lvl="0" algn="just">
              <a:lnSpc>
                <a:spcPct val="150000"/>
              </a:lnSpc>
              <a:defRPr/>
            </a:pPr>
            <a:r>
              <a:rPr lang="vi-VN" sz="2400" b="0"/>
              <a:t>Nguyễn Tùng Dương</a:t>
            </a:r>
            <a:r>
              <a:rPr lang="en-US" sz="2400" b="0"/>
              <a:t> </a:t>
            </a:r>
            <a:r>
              <a:rPr lang="en-US" sz="2400" b="0">
                <a:latin typeface="Arial" panose="020B0604020202020204" pitchFamily="34" charset="0"/>
                <a:cs typeface="Arial" panose="020B0604020202020204" pitchFamily="34" charset="0"/>
              </a:rPr>
              <a:t>- </a:t>
            </a:r>
            <a:r>
              <a:rPr lang="en-US" sz="2400">
                <a:latin typeface="Arial" panose="020B0604020202020204" pitchFamily="34" charset="0"/>
                <a:cs typeface="Arial" panose="020B0604020202020204" pitchFamily="34" charset="0"/>
              </a:rPr>
              <a:t>2023603471</a:t>
            </a:r>
            <a:r>
              <a:rPr lang="en-US" sz="2400" b="0">
                <a:latin typeface="Arial" panose="020B0604020202020204" pitchFamily="34" charset="0"/>
                <a:cs typeface="Arial" panose="020B0604020202020204" pitchFamily="34" charset="0"/>
              </a:rPr>
              <a:t> </a:t>
            </a:r>
            <a:endParaRPr lang="vi-VN" sz="2400" b="0">
              <a:latin typeface="Arial" panose="020B0604020202020204" pitchFamily="34" charset="0"/>
              <a:cs typeface="Arial" panose="020B0604020202020204" pitchFamily="34" charset="0"/>
            </a:endParaRPr>
          </a:p>
        </p:txBody>
      </p:sp>
      <p:sp>
        <p:nvSpPr>
          <p:cNvPr id="18" name="Parallelogram 17">
            <a:extLst>
              <a:ext uri="{FF2B5EF4-FFF2-40B4-BE49-F238E27FC236}">
                <a16:creationId xmlns:a16="http://schemas.microsoft.com/office/drawing/2014/main" id="{D8458CD2-CF2D-BB87-4677-62F527857256}"/>
              </a:ext>
            </a:extLst>
          </p:cNvPr>
          <p:cNvSpPr/>
          <p:nvPr/>
        </p:nvSpPr>
        <p:spPr>
          <a:xfrm>
            <a:off x="4292082" y="3429000"/>
            <a:ext cx="6712800" cy="5847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6199881-7E11-1516-6249-A3D6280C02ED}"/>
              </a:ext>
            </a:extLst>
          </p:cNvPr>
          <p:cNvSpPr txBox="1"/>
          <p:nvPr/>
        </p:nvSpPr>
        <p:spPr>
          <a:xfrm>
            <a:off x="4860474" y="3402299"/>
            <a:ext cx="5683118" cy="586699"/>
          </a:xfrm>
          <a:prstGeom prst="rect">
            <a:avLst/>
          </a:prstGeom>
          <a:noFill/>
        </p:spPr>
        <p:txBody>
          <a:bodyPr wrap="square">
            <a:spAutoFit/>
          </a:bodyPr>
          <a:lstStyle/>
          <a:p>
            <a:pPr lvl="0" algn="just">
              <a:lnSpc>
                <a:spcPct val="150000"/>
              </a:lnSpc>
              <a:defRPr/>
            </a:pPr>
            <a:r>
              <a:rPr lang="vi-VN" sz="2400"/>
              <a:t>Nguyễn Thành Đạt</a:t>
            </a:r>
            <a:r>
              <a:rPr lang="en-US" sz="2400"/>
              <a:t> </a:t>
            </a:r>
            <a:r>
              <a:rPr lang="en-US" sz="2400">
                <a:latin typeface="Arial" panose="020B0604020202020204" pitchFamily="34" charset="0"/>
                <a:cs typeface="Arial" panose="020B0604020202020204" pitchFamily="34" charset="0"/>
              </a:rPr>
              <a:t>- 2023603644</a:t>
            </a:r>
            <a:endParaRPr lang="vi-VN" sz="2400">
              <a:latin typeface="Arial" panose="020B0604020202020204" pitchFamily="34" charset="0"/>
              <a:cs typeface="Arial" panose="020B0604020202020204" pitchFamily="34" charset="0"/>
            </a:endParaRPr>
          </a:p>
        </p:txBody>
      </p:sp>
      <p:sp>
        <p:nvSpPr>
          <p:cNvPr id="20" name="Parallelogram 19">
            <a:extLst>
              <a:ext uri="{FF2B5EF4-FFF2-40B4-BE49-F238E27FC236}">
                <a16:creationId xmlns:a16="http://schemas.microsoft.com/office/drawing/2014/main" id="{2C425DB6-D6B7-F773-CF60-8A7C75FB6020}"/>
              </a:ext>
            </a:extLst>
          </p:cNvPr>
          <p:cNvSpPr/>
          <p:nvPr/>
        </p:nvSpPr>
        <p:spPr>
          <a:xfrm>
            <a:off x="4292081" y="4217879"/>
            <a:ext cx="6712799" cy="5847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BB764AE-84E9-F5FA-5AB4-F6FA205307C9}"/>
              </a:ext>
            </a:extLst>
          </p:cNvPr>
          <p:cNvSpPr txBox="1"/>
          <p:nvPr/>
        </p:nvSpPr>
        <p:spPr>
          <a:xfrm>
            <a:off x="4860473" y="4193102"/>
            <a:ext cx="5309893" cy="586699"/>
          </a:xfrm>
          <a:prstGeom prst="rect">
            <a:avLst/>
          </a:prstGeom>
          <a:noFill/>
        </p:spPr>
        <p:txBody>
          <a:bodyPr wrap="square">
            <a:spAutoFit/>
          </a:bodyPr>
          <a:lstStyle/>
          <a:p>
            <a:pPr lvl="0" algn="just">
              <a:lnSpc>
                <a:spcPct val="150000"/>
              </a:lnSpc>
              <a:defRPr/>
            </a:pPr>
            <a:r>
              <a:rPr lang="vi-VN" sz="2400"/>
              <a:t>Nguyễn Minh Hiếu</a:t>
            </a:r>
            <a:r>
              <a:rPr lang="en-US" sz="2400"/>
              <a:t> </a:t>
            </a:r>
            <a:r>
              <a:rPr lang="en-US" sz="2400">
                <a:latin typeface="Arial" panose="020B0604020202020204" pitchFamily="34" charset="0"/>
                <a:cs typeface="Arial" panose="020B0604020202020204" pitchFamily="34" charset="0"/>
              </a:rPr>
              <a:t>- 2023603160  </a:t>
            </a:r>
            <a:endParaRPr lang="vi-VN"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03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BED43563-D918-5AC3-FD71-6CCDC98EB59B}"/>
              </a:ext>
            </a:extLst>
          </p:cNvPr>
          <p:cNvSpPr/>
          <p:nvPr/>
        </p:nvSpPr>
        <p:spPr>
          <a:xfrm>
            <a:off x="-1" y="578496"/>
            <a:ext cx="9489233" cy="1138336"/>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211915" y="732165"/>
            <a:ext cx="7587916" cy="830997"/>
          </a:xfrm>
          <a:prstGeom prst="rect">
            <a:avLst/>
          </a:prstGeom>
          <a:noFill/>
        </p:spPr>
        <p:txBody>
          <a:bodyPr wrap="square" rtlCol="0">
            <a:spAutoFit/>
          </a:bodyPr>
          <a:lstStyle/>
          <a:p>
            <a:r>
              <a:rPr lang="en-US" sz="4800">
                <a:latin typeface="Arial" panose="020B0604020202020204" pitchFamily="34" charset="0"/>
                <a:cs typeface="Arial" panose="020B0604020202020204" pitchFamily="34" charset="0"/>
              </a:rPr>
              <a:t>1.Nhiệm vụ đề tài</a:t>
            </a:r>
            <a:endParaRPr lang="en-US" sz="4800" dirty="0">
              <a:latin typeface="Arial" panose="020B0604020202020204" pitchFamily="34" charset="0"/>
              <a:cs typeface="Arial" panose="020B0604020202020204" pitchFamily="34" charset="0"/>
            </a:endParaRPr>
          </a:p>
        </p:txBody>
      </p:sp>
      <p:sp>
        <p:nvSpPr>
          <p:cNvPr id="5" name="TextBox 4"/>
          <p:cNvSpPr txBox="1"/>
          <p:nvPr/>
        </p:nvSpPr>
        <p:spPr>
          <a:xfrm>
            <a:off x="3282738" y="2394693"/>
            <a:ext cx="7988642" cy="2246769"/>
          </a:xfrm>
          <a:prstGeom prst="rect">
            <a:avLst/>
          </a:prstGeom>
          <a:noFill/>
        </p:spPr>
        <p:txBody>
          <a:bodyPr wrap="square" rtlCol="0">
            <a:spAutoFit/>
          </a:bodyPr>
          <a:lstStyle/>
          <a:p>
            <a:pPr algn="just"/>
            <a:r>
              <a:rPr lang="en-US" sz="2400"/>
              <a:t>	</a:t>
            </a:r>
            <a:r>
              <a:rPr lang="vi-VN" sz="2800"/>
              <a:t>Nghiên cứu cơ sở lý thuyết về xác suất thống kê và thuật toán </a:t>
            </a:r>
            <a:r>
              <a:rPr lang="vi-VN" sz="2800" b="1"/>
              <a:t>Naive Bayes</a:t>
            </a:r>
            <a:r>
              <a:rPr lang="vi-VN" sz="2800"/>
              <a:t>, sau đó ứng dụng ngôn ngữ lập trình </a:t>
            </a:r>
            <a:r>
              <a:rPr lang="vi-VN" sz="2800" b="1"/>
              <a:t>Python</a:t>
            </a:r>
            <a:r>
              <a:rPr lang="vi-VN" sz="2800"/>
              <a:t> để xây dựng chương trình giải quyết bài toán chẩn đoán bệnh tiểu đường.</a:t>
            </a:r>
            <a:endParaRPr lang="en-US" sz="2800"/>
          </a:p>
        </p:txBody>
      </p:sp>
    </p:spTree>
    <p:extLst>
      <p:ext uri="{BB962C8B-B14F-4D97-AF65-F5344CB8AC3E}">
        <p14:creationId xmlns:p14="http://schemas.microsoft.com/office/powerpoint/2010/main" val="416966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199" y="2068684"/>
            <a:ext cx="3872205" cy="1569660"/>
          </a:xfrm>
          <a:prstGeom prst="rect">
            <a:avLst/>
          </a:prstGeom>
          <a:noFill/>
        </p:spPr>
        <p:txBody>
          <a:bodyPr wrap="square" rtlCol="0">
            <a:spAutoFit/>
          </a:bodyPr>
          <a:lstStyle/>
          <a:p>
            <a:pPr marL="285750" indent="-285750" algn="just">
              <a:buFont typeface="Wingdings" panose="05000000000000000000" pitchFamily="2" charset="2"/>
              <a:buChar char="Ø"/>
            </a:pPr>
            <a:r>
              <a:rPr lang="vi-VN" sz="2400"/>
              <a:t>Bệnh tiểu đường đang là vấn đề sức khỏe nghiêm trọng do lối sống hiện đại. </a:t>
            </a:r>
            <a:endParaRPr lang="en-US" sz="2400"/>
          </a:p>
        </p:txBody>
      </p:sp>
      <p:sp>
        <p:nvSpPr>
          <p:cNvPr id="9" name="Arrow: Pentagon 8">
            <a:extLst>
              <a:ext uri="{FF2B5EF4-FFF2-40B4-BE49-F238E27FC236}">
                <a16:creationId xmlns:a16="http://schemas.microsoft.com/office/drawing/2014/main" id="{319534A7-CF4A-16FF-F380-AD45D273BC9F}"/>
              </a:ext>
            </a:extLst>
          </p:cNvPr>
          <p:cNvSpPr/>
          <p:nvPr/>
        </p:nvSpPr>
        <p:spPr>
          <a:xfrm>
            <a:off x="-149290" y="223935"/>
            <a:ext cx="10161037" cy="106369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05273" y="371059"/>
            <a:ext cx="8509519" cy="769441"/>
          </a:xfrm>
          <a:prstGeom prst="rect">
            <a:avLst/>
          </a:prstGeom>
          <a:noFill/>
        </p:spPr>
        <p:txBody>
          <a:bodyPr wrap="square" rtlCol="0">
            <a:spAutoFit/>
          </a:bodyPr>
          <a:lstStyle/>
          <a:p>
            <a:pPr algn="ctr"/>
            <a:r>
              <a:rPr lang="en-US" sz="4400" b="1">
                <a:latin typeface="Arial" panose="020B0604020202020204" pitchFamily="34" charset="0"/>
                <a:cs typeface="Arial" panose="020B0604020202020204" pitchFamily="34" charset="0"/>
              </a:rPr>
              <a:t>2.Thực tiễn &amp; Tính cấp thiết:</a:t>
            </a:r>
            <a:endParaRPr lang="en-US" sz="4400" b="1"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29B3F87C-5DF7-0735-AC15-0BF15A07B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4960" y="1565377"/>
            <a:ext cx="7707040" cy="5292623"/>
          </a:xfrm>
          <a:prstGeom prst="rect">
            <a:avLst/>
          </a:prstGeom>
        </p:spPr>
      </p:pic>
    </p:spTree>
    <p:extLst>
      <p:ext uri="{BB962C8B-B14F-4D97-AF65-F5344CB8AC3E}">
        <p14:creationId xmlns:p14="http://schemas.microsoft.com/office/powerpoint/2010/main" val="2543857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19EB5-D45A-BA1A-C3EE-2020338F0B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A21AAE7-CAF0-05F8-338C-FC24DE5B1719}"/>
              </a:ext>
            </a:extLst>
          </p:cNvPr>
          <p:cNvSpPr txBox="1"/>
          <p:nvPr/>
        </p:nvSpPr>
        <p:spPr>
          <a:xfrm>
            <a:off x="1017036" y="2152173"/>
            <a:ext cx="8388221" cy="2308324"/>
          </a:xfrm>
          <a:prstGeom prst="rect">
            <a:avLst/>
          </a:prstGeom>
          <a:noFill/>
        </p:spPr>
        <p:txBody>
          <a:bodyPr wrap="square" rtlCol="0">
            <a:spAutoFit/>
          </a:bodyPr>
          <a:lstStyle/>
          <a:p>
            <a:pPr marL="285750" lvl="0" indent="-285750" algn="just">
              <a:buFont typeface="Arial" panose="020B0604020202020204" pitchFamily="34" charset="0"/>
              <a:buChar char="•"/>
            </a:pPr>
            <a:r>
              <a:rPr lang="en-US" sz="2400">
                <a:latin typeface="Arial" panose="020B0604020202020204" pitchFamily="34" charset="0"/>
                <a:cs typeface="Arial" panose="020B0604020202020204" pitchFamily="34" charset="0"/>
              </a:rPr>
              <a:t>Mong muốn vận dụng lý thuyết môn học vào giải quyết bài toán thực tiễn.</a:t>
            </a:r>
          </a:p>
          <a:p>
            <a:pPr marL="285750" indent="-285750" algn="just">
              <a:buFont typeface="Wingdings" panose="05000000000000000000" pitchFamily="2" charset="2"/>
              <a:buChar char="Ø"/>
            </a:pPr>
            <a:endParaRPr lang="en-US" sz="2400">
              <a:latin typeface="Arial" panose="020B0604020202020204" pitchFamily="34" charset="0"/>
              <a:cs typeface="Arial" panose="020B0604020202020204" pitchFamily="34" charset="0"/>
            </a:endParaRPr>
          </a:p>
          <a:p>
            <a:pPr marL="285750" lvl="0" indent="-285750" algn="just">
              <a:buFont typeface="Arial" panose="020B0604020202020204" pitchFamily="34" charset="0"/>
              <a:buChar char="•"/>
            </a:pPr>
            <a:r>
              <a:rPr lang="en-US" sz="2400">
                <a:latin typeface="Arial" panose="020B0604020202020204" pitchFamily="34" charset="0"/>
                <a:cs typeface="Arial" panose="020B0604020202020204" pitchFamily="34" charset="0"/>
              </a:rPr>
              <a:t>Nghiên cứu sâu về thuật toán Naive Bayes và đánh giá hiệu quả của AI trong việc hỗ trợ y tế, cụ thể là chẩn đoán bệnh tiểu đường.</a:t>
            </a:r>
          </a:p>
        </p:txBody>
      </p:sp>
      <p:sp>
        <p:nvSpPr>
          <p:cNvPr id="2" name="Arrow: Chevron 1">
            <a:extLst>
              <a:ext uri="{FF2B5EF4-FFF2-40B4-BE49-F238E27FC236}">
                <a16:creationId xmlns:a16="http://schemas.microsoft.com/office/drawing/2014/main" id="{56F85A2A-1187-B23F-F815-59F4FA271E5A}"/>
              </a:ext>
            </a:extLst>
          </p:cNvPr>
          <p:cNvSpPr/>
          <p:nvPr/>
        </p:nvSpPr>
        <p:spPr>
          <a:xfrm>
            <a:off x="1110343" y="1073020"/>
            <a:ext cx="261257" cy="354564"/>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Arrow: Chevron 2">
            <a:extLst>
              <a:ext uri="{FF2B5EF4-FFF2-40B4-BE49-F238E27FC236}">
                <a16:creationId xmlns:a16="http://schemas.microsoft.com/office/drawing/2014/main" id="{5D1AE75F-9886-7193-43B9-47DB4EE727BF}"/>
              </a:ext>
            </a:extLst>
          </p:cNvPr>
          <p:cNvSpPr/>
          <p:nvPr/>
        </p:nvSpPr>
        <p:spPr>
          <a:xfrm>
            <a:off x="1368490" y="1073020"/>
            <a:ext cx="261257" cy="354564"/>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71E5C99B-0B66-D8CF-B65A-2B96FA415CB7}"/>
              </a:ext>
            </a:extLst>
          </p:cNvPr>
          <p:cNvSpPr txBox="1"/>
          <p:nvPr/>
        </p:nvSpPr>
        <p:spPr>
          <a:xfrm>
            <a:off x="-544286" y="927136"/>
            <a:ext cx="8509519" cy="646331"/>
          </a:xfrm>
          <a:prstGeom prst="rect">
            <a:avLst/>
          </a:prstGeom>
          <a:noFill/>
        </p:spPr>
        <p:txBody>
          <a:bodyPr wrap="square" rtlCol="0">
            <a:spAutoFit/>
          </a:bodyPr>
          <a:lstStyle/>
          <a:p>
            <a:pPr algn="ctr"/>
            <a:r>
              <a:rPr lang="en-US" sz="3600" b="1">
                <a:latin typeface="Arial" panose="020B0604020202020204" pitchFamily="34" charset="0"/>
                <a:cs typeface="Arial" panose="020B0604020202020204" pitchFamily="34" charset="0"/>
              </a:rPr>
              <a:t>Lý do chọn đề tài</a:t>
            </a:r>
            <a:endParaRPr lang="en-US"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65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59957" y="274963"/>
            <a:ext cx="5903494" cy="769441"/>
          </a:xfrm>
          <a:prstGeom prst="rect">
            <a:avLst/>
          </a:prstGeom>
          <a:noFill/>
        </p:spPr>
        <p:txBody>
          <a:bodyPr wrap="square" rtlCol="0">
            <a:spAutoFit/>
          </a:bodyPr>
          <a:lstStyle/>
          <a:p>
            <a:pPr algn="ctr"/>
            <a:r>
              <a:rPr lang="en-US" sz="4400" b="1">
                <a:latin typeface="Arial" panose="020B0604020202020204" pitchFamily="34" charset="0"/>
                <a:cs typeface="Arial" panose="020B0604020202020204" pitchFamily="34" charset="0"/>
              </a:rPr>
              <a:t>3.Mô </a:t>
            </a:r>
            <a:r>
              <a:rPr lang="en-US" sz="4400" b="1" dirty="0" err="1">
                <a:latin typeface="Arial" panose="020B0604020202020204" pitchFamily="34" charset="0"/>
                <a:cs typeface="Arial" panose="020B0604020202020204" pitchFamily="34" charset="0"/>
              </a:rPr>
              <a:t>tả</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bài</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toán</a:t>
            </a:r>
            <a:endParaRPr lang="en-US" sz="4400" b="1" dirty="0">
              <a:latin typeface="Arial" panose="020B0604020202020204" pitchFamily="34" charset="0"/>
              <a:cs typeface="Arial" panose="020B0604020202020204" pitchFamily="34" charset="0"/>
            </a:endParaRPr>
          </a:p>
        </p:txBody>
      </p:sp>
      <p:sp>
        <p:nvSpPr>
          <p:cNvPr id="5" name="TextBox 4"/>
          <p:cNvSpPr txBox="1"/>
          <p:nvPr/>
        </p:nvSpPr>
        <p:spPr>
          <a:xfrm>
            <a:off x="1853293" y="1168204"/>
            <a:ext cx="8988878" cy="523220"/>
          </a:xfrm>
          <a:prstGeom prst="rect">
            <a:avLst/>
          </a:prstGeom>
          <a:noFill/>
        </p:spPr>
        <p:txBody>
          <a:bodyPr wrap="square" rtlCol="0">
            <a:spAutoFit/>
          </a:bodyPr>
          <a:lstStyle/>
          <a:p>
            <a:pPr algn="ctr"/>
            <a:r>
              <a:rPr lang="en-US" sz="2800" b="1" dirty="0" err="1">
                <a:latin typeface="Arial" panose="020B0604020202020204" pitchFamily="34" charset="0"/>
                <a:cs typeface="Arial" panose="020B0604020202020204" pitchFamily="34" charset="0"/>
              </a:rPr>
              <a:t>Bài</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toán</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Phân</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lớp</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nhị</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phân</a:t>
            </a:r>
            <a:r>
              <a:rPr lang="en-US" sz="2800" b="1" dirty="0">
                <a:latin typeface="Arial" panose="020B0604020202020204" pitchFamily="34" charset="0"/>
                <a:cs typeface="Arial" panose="020B0604020202020204" pitchFamily="34" charset="0"/>
              </a:rPr>
              <a:t> (Binary Classification).</a:t>
            </a:r>
          </a:p>
        </p:txBody>
      </p:sp>
      <p:sp>
        <p:nvSpPr>
          <p:cNvPr id="2" name="Rectangle: Rounded Corners 1">
            <a:extLst>
              <a:ext uri="{FF2B5EF4-FFF2-40B4-BE49-F238E27FC236}">
                <a16:creationId xmlns:a16="http://schemas.microsoft.com/office/drawing/2014/main" id="{C25D7A98-2E66-3B4C-0287-8413A2CBBAB6}"/>
              </a:ext>
            </a:extLst>
          </p:cNvPr>
          <p:cNvSpPr/>
          <p:nvPr/>
        </p:nvSpPr>
        <p:spPr>
          <a:xfrm>
            <a:off x="2179864" y="1896259"/>
            <a:ext cx="8298414" cy="44306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576988" y="1896259"/>
            <a:ext cx="8573094" cy="4647426"/>
          </a:xfrm>
          <a:prstGeom prst="rect">
            <a:avLst/>
          </a:prstGeom>
          <a:noFill/>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Input (</a:t>
            </a:r>
            <a:r>
              <a:rPr lang="en-US" sz="2400" b="1" dirty="0" err="1">
                <a:latin typeface="Arial" panose="020B0604020202020204" pitchFamily="34" charset="0"/>
                <a:cs typeface="Arial" panose="020B0604020202020204" pitchFamily="34" charset="0"/>
              </a:rPr>
              <a:t>Đầu</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vào</a:t>
            </a:r>
            <a:r>
              <a:rPr lang="en-US" sz="2400" b="1" dirty="0">
                <a:latin typeface="Arial" panose="020B0604020202020204" pitchFamily="34" charset="0"/>
                <a:cs typeface="Arial" panose="020B0604020202020204" pitchFamily="34" charset="0"/>
              </a:rPr>
              <a:t>): 8 </a:t>
            </a:r>
            <a:r>
              <a:rPr lang="en-US" sz="2400" b="1" dirty="0" err="1">
                <a:latin typeface="Arial" panose="020B0604020202020204" pitchFamily="34" charset="0"/>
                <a:cs typeface="Arial" panose="020B0604020202020204" pitchFamily="34" charset="0"/>
              </a:rPr>
              <a:t>chỉ</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số</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sức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khỏe</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của</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bệnh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nhân</a:t>
            </a:r>
            <a:r>
              <a:rPr lang="en-US" sz="2400" b="1" dirty="0">
                <a:latin typeface="Arial" panose="020B0604020202020204" pitchFamily="34" charset="0"/>
                <a:cs typeface="Arial" panose="020B0604020202020204" pitchFamily="34" charset="0"/>
              </a:rPr>
              <a:t>:</a:t>
            </a:r>
          </a:p>
          <a:p>
            <a:pPr marL="285750" lvl="0" indent="-285750">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lần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mang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thai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Preg</a:t>
            </a:r>
            <a:r>
              <a:rPr lang="en-US" sz="2000" dirty="0">
                <a:latin typeface="Arial" panose="020B0604020202020204" pitchFamily="34" charset="0"/>
                <a:cs typeface="Arial" panose="020B0604020202020204" pitchFamily="34" charset="0"/>
              </a:rPr>
              <a:t>)</a:t>
            </a:r>
          </a:p>
          <a:p>
            <a:pPr marL="285750" lvl="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Glucose </a:t>
            </a:r>
            <a:r>
              <a:rPr lang="en-US" sz="2000" dirty="0" err="1">
                <a:latin typeface="Arial" panose="020B0604020202020204" pitchFamily="34" charset="0"/>
                <a:cs typeface="Arial" panose="020B0604020202020204" pitchFamily="34" charset="0"/>
              </a:rPr>
              <a:t>huyết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Plas</a:t>
            </a:r>
            <a:r>
              <a:rPr lang="en-US" sz="2000" dirty="0">
                <a:latin typeface="Arial" panose="020B0604020202020204" pitchFamily="34" charset="0"/>
                <a:cs typeface="Arial" panose="020B0604020202020204" pitchFamily="34" charset="0"/>
              </a:rPr>
              <a:t>)</a:t>
            </a:r>
          </a:p>
          <a:p>
            <a:pPr marL="285750" lvl="0" indent="-285750">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Huyết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tâm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trương</a:t>
            </a:r>
            <a:r>
              <a:rPr lang="en-US" sz="2000" dirty="0">
                <a:latin typeface="Arial" panose="020B0604020202020204" pitchFamily="34" charset="0"/>
                <a:cs typeface="Arial" panose="020B0604020202020204" pitchFamily="34" charset="0"/>
              </a:rPr>
              <a:t> (Pres)</a:t>
            </a:r>
          </a:p>
          <a:p>
            <a:pPr marL="285750" lvl="0" indent="-285750">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Độ</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dày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nếp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gấp</a:t>
            </a:r>
            <a:r>
              <a:rPr lang="en-US" sz="2000" dirty="0">
                <a:latin typeface="Arial" panose="020B0604020202020204" pitchFamily="34" charset="0"/>
                <a:cs typeface="Arial" panose="020B0604020202020204" pitchFamily="34" charset="0"/>
              </a:rPr>
              <a:t> da (Skin)</a:t>
            </a:r>
          </a:p>
          <a:p>
            <a:pPr marL="285750" lvl="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Insulin </a:t>
            </a:r>
            <a:r>
              <a:rPr lang="en-US" sz="2000" dirty="0" err="1">
                <a:latin typeface="Arial" panose="020B0604020202020204" pitchFamily="34" charset="0"/>
                <a:cs typeface="Arial" panose="020B0604020202020204" pitchFamily="34" charset="0"/>
              </a:rPr>
              <a:t>huyết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thanh</a:t>
            </a:r>
            <a:r>
              <a:rPr lang="en-US" sz="2000" dirty="0">
                <a:latin typeface="Arial" panose="020B0604020202020204" pitchFamily="34" charset="0"/>
                <a:cs typeface="Arial" panose="020B0604020202020204" pitchFamily="34" charset="0"/>
              </a:rPr>
              <a:t> (Test)</a:t>
            </a:r>
          </a:p>
          <a:p>
            <a:pPr marL="285750" lvl="0" indent="-285750">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Chỉ</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BMI (Mass)</a:t>
            </a:r>
          </a:p>
          <a:p>
            <a:pPr marL="285750" lvl="0" indent="-285750">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Chức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năng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(Pedi)</a:t>
            </a:r>
          </a:p>
          <a:p>
            <a:pPr marL="285750" lvl="0" indent="-285750">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Tuổi</a:t>
            </a:r>
            <a:r>
              <a:rPr lang="en-US" sz="2000" dirty="0">
                <a:latin typeface="Arial" panose="020B0604020202020204" pitchFamily="34" charset="0"/>
                <a:cs typeface="Arial" panose="020B0604020202020204" pitchFamily="34" charset="0"/>
              </a:rPr>
              <a:t> (Age)</a:t>
            </a:r>
          </a:p>
          <a:p>
            <a:pPr algn="ctr"/>
            <a:endParaRPr lang="en-US" sz="2000" b="1" dirty="0">
              <a:latin typeface="Arial" panose="020B0604020202020204" pitchFamily="34" charset="0"/>
              <a:cs typeface="Arial" panose="020B0604020202020204" pitchFamily="34" charset="0"/>
            </a:endParaRPr>
          </a:p>
        </p:txBody>
      </p:sp>
      <p:sp>
        <p:nvSpPr>
          <p:cNvPr id="8" name="TextBox 7"/>
          <p:cNvSpPr txBox="1"/>
          <p:nvPr/>
        </p:nvSpPr>
        <p:spPr>
          <a:xfrm>
            <a:off x="6863535" y="4517968"/>
            <a:ext cx="3550269" cy="2343655"/>
          </a:xfrm>
          <a:prstGeom prst="rect">
            <a:avLst/>
          </a:prstGeom>
          <a:noFill/>
        </p:spPr>
        <p:txBody>
          <a:bodyPr wrap="square" rtlCol="0">
            <a:spAutoFit/>
          </a:bodyPr>
          <a:lstStyle/>
          <a:p>
            <a:pPr>
              <a:lnSpc>
                <a:spcPct val="150000"/>
              </a:lnSpc>
            </a:pPr>
            <a:r>
              <a:rPr lang="en-US" sz="2000" b="1" dirty="0">
                <a:latin typeface="Arial" panose="020B0604020202020204" pitchFamily="34" charset="0"/>
                <a:cs typeface="Arial" panose="020B0604020202020204" pitchFamily="34" charset="0"/>
              </a:rPr>
              <a:t>Output (</a:t>
            </a:r>
            <a:r>
              <a:rPr lang="en-US" sz="2000" b="1" dirty="0" err="1">
                <a:latin typeface="Arial" panose="020B0604020202020204" pitchFamily="34" charset="0"/>
                <a:cs typeface="Arial" panose="020B0604020202020204" pitchFamily="34" charset="0"/>
              </a:rPr>
              <a:t>Đầu</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ra</a:t>
            </a:r>
            <a:r>
              <a:rPr lang="en-US" sz="2000" b="1" dirty="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Class 0: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mắc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bệnh</a:t>
            </a:r>
            <a:r>
              <a:rPr lang="en-US" sz="2000" dirty="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Class 1: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mắc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bệnh</a:t>
            </a:r>
            <a:r>
              <a:rPr lang="en-US" sz="2000" dirty="0">
                <a:latin typeface="Arial" panose="020B0604020202020204" pitchFamily="34" charset="0"/>
                <a:cs typeface="Arial" panose="020B0604020202020204" pitchFamily="34" charset="0"/>
              </a:rPr>
              <a:t>.</a:t>
            </a:r>
          </a:p>
          <a:p>
            <a:pPr>
              <a:lnSpc>
                <a:spcPct val="150000"/>
              </a:lnSpc>
            </a:pPr>
            <a:endParaRPr lang="en-US" sz="2000" dirty="0">
              <a:latin typeface="Arial" panose="020B0604020202020204" pitchFamily="34" charset="0"/>
              <a:cs typeface="Arial" panose="020B0604020202020204" pitchFamily="34" charset="0"/>
            </a:endParaRPr>
          </a:p>
          <a:p>
            <a:pPr algn="ctr">
              <a:lnSpc>
                <a:spcPct val="150000"/>
              </a:lnSpc>
            </a:pP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5706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27741" y="3982999"/>
            <a:ext cx="6801853" cy="586699"/>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sz="2400" b="1">
                <a:latin typeface="Arial" panose="020B0604020202020204" pitchFamily="34" charset="0"/>
                <a:cs typeface="Arial" panose="020B0604020202020204" pitchFamily="34" charset="0"/>
              </a:rPr>
              <a:t>Dữ liệu:</a:t>
            </a:r>
            <a:endParaRPr lang="en-US" sz="2400" b="1" dirty="0">
              <a:latin typeface="Arial" panose="020B0604020202020204" pitchFamily="34" charset="0"/>
              <a:cs typeface="Arial" panose="020B0604020202020204" pitchFamily="34" charset="0"/>
            </a:endParaRPr>
          </a:p>
        </p:txBody>
      </p:sp>
      <p:sp>
        <p:nvSpPr>
          <p:cNvPr id="2" name="Parallelogram 1">
            <a:extLst>
              <a:ext uri="{FF2B5EF4-FFF2-40B4-BE49-F238E27FC236}">
                <a16:creationId xmlns:a16="http://schemas.microsoft.com/office/drawing/2014/main" id="{848AB7ED-E05C-CAD2-05A1-289E9495C16A}"/>
              </a:ext>
            </a:extLst>
          </p:cNvPr>
          <p:cNvSpPr/>
          <p:nvPr/>
        </p:nvSpPr>
        <p:spPr>
          <a:xfrm>
            <a:off x="0" y="634482"/>
            <a:ext cx="9451909" cy="877077"/>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01741" y="719077"/>
            <a:ext cx="8248426" cy="707886"/>
          </a:xfrm>
          <a:prstGeom prst="rect">
            <a:avLst/>
          </a:prstGeom>
          <a:noFill/>
        </p:spPr>
        <p:txBody>
          <a:bodyPr wrap="square" rtlCol="0">
            <a:spAutoFit/>
          </a:bodyPr>
          <a:lstStyle/>
          <a:p>
            <a:r>
              <a:rPr lang="en-US" sz="4000">
                <a:latin typeface="Arial" panose="020B0604020202020204" pitchFamily="34" charset="0"/>
                <a:cs typeface="Arial" panose="020B0604020202020204" pitchFamily="34" charset="0"/>
              </a:rPr>
              <a:t>4. Kết quả nghiên cứu và giải pháp</a:t>
            </a:r>
            <a:endParaRPr lang="en-US" sz="4000" b="1"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8DAF3179-94E0-C0F3-5696-B1BEE92667B8}"/>
              </a:ext>
            </a:extLst>
          </p:cNvPr>
          <p:cNvSpPr/>
          <p:nvPr/>
        </p:nvSpPr>
        <p:spPr>
          <a:xfrm>
            <a:off x="1571962" y="1743154"/>
            <a:ext cx="9979336" cy="1131848"/>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sz="2400" b="1">
                <a:latin typeface="Arial" panose="020B0604020202020204" pitchFamily="34" charset="0"/>
                <a:cs typeface="Arial" panose="020B0604020202020204" pitchFamily="34" charset="0"/>
              </a:rPr>
              <a:t>Thuật toán:</a:t>
            </a:r>
            <a:r>
              <a:rPr lang="en-US" sz="2400">
                <a:latin typeface="Arial" panose="020B0604020202020204" pitchFamily="34" charset="0"/>
                <a:cs typeface="Arial" panose="020B0604020202020204" pitchFamily="34" charset="0"/>
              </a:rPr>
              <a:t> Sử dụng </a:t>
            </a:r>
            <a:r>
              <a:rPr lang="en-US" sz="2400" b="1">
                <a:latin typeface="Arial" panose="020B0604020202020204" pitchFamily="34" charset="0"/>
                <a:cs typeface="Arial" panose="020B0604020202020204" pitchFamily="34" charset="0"/>
              </a:rPr>
              <a:t>Gaussian Naive Bayes</a:t>
            </a:r>
            <a:r>
              <a:rPr lang="en-US" sz="2400">
                <a:latin typeface="Arial" panose="020B0604020202020204" pitchFamily="34" charset="0"/>
                <a:cs typeface="Arial" panose="020B0604020202020204" pitchFamily="34" charset="0"/>
              </a:rPr>
              <a:t> (biến thể của Naive Bayes dành cho dữ liệu liên tục) để xử lý các chỉ số y sinh.</a:t>
            </a:r>
          </a:p>
        </p:txBody>
      </p:sp>
      <p:sp>
        <p:nvSpPr>
          <p:cNvPr id="8" name="Rectangle 7">
            <a:extLst>
              <a:ext uri="{FF2B5EF4-FFF2-40B4-BE49-F238E27FC236}">
                <a16:creationId xmlns:a16="http://schemas.microsoft.com/office/drawing/2014/main" id="{67B07D14-80F5-1496-4967-1B4BC2F52876}"/>
              </a:ext>
            </a:extLst>
          </p:cNvPr>
          <p:cNvSpPr/>
          <p:nvPr/>
        </p:nvSpPr>
        <p:spPr>
          <a:xfrm>
            <a:off x="2327742" y="2999410"/>
            <a:ext cx="6801853" cy="586699"/>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sz="2400" b="1">
                <a:latin typeface="Arial" panose="020B0604020202020204" pitchFamily="34" charset="0"/>
                <a:cs typeface="Arial" panose="020B0604020202020204" pitchFamily="34" charset="0"/>
              </a:rPr>
              <a:t>Quy trình giải pháp:</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0052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A3D3F-F9CB-7522-491B-9EE4FA2C13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64DB8C-A943-22A3-4D2A-AFD201F4280B}"/>
              </a:ext>
            </a:extLst>
          </p:cNvPr>
          <p:cNvSpPr txBox="1"/>
          <p:nvPr/>
        </p:nvSpPr>
        <p:spPr>
          <a:xfrm>
            <a:off x="1824051" y="448569"/>
            <a:ext cx="8248426" cy="707886"/>
          </a:xfrm>
          <a:prstGeom prst="rect">
            <a:avLst/>
          </a:prstGeom>
          <a:noFill/>
        </p:spPr>
        <p:txBody>
          <a:bodyPr wrap="square" rtlCol="0">
            <a:spAutoFit/>
          </a:bodyPr>
          <a:lstStyle/>
          <a:p>
            <a:r>
              <a:rPr lang="en-US" sz="4000" b="1">
                <a:latin typeface="Arial" panose="020B0604020202020204" pitchFamily="34" charset="0"/>
                <a:cs typeface="Arial" panose="020B0604020202020204" pitchFamily="34" charset="0"/>
              </a:rPr>
              <a:t>Quy trình giải pháp</a:t>
            </a:r>
            <a:endParaRPr lang="en-US" sz="40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66B42AC-4971-9F43-36FD-7CE0B6B46D2E}"/>
              </a:ext>
            </a:extLst>
          </p:cNvPr>
          <p:cNvSpPr txBox="1"/>
          <p:nvPr/>
        </p:nvSpPr>
        <p:spPr>
          <a:xfrm>
            <a:off x="1685926" y="1496549"/>
            <a:ext cx="9820274" cy="1539551"/>
          </a:xfrm>
          <a:prstGeom prst="rect">
            <a:avLst/>
          </a:prstGeom>
          <a:noFill/>
        </p:spPr>
        <p:txBody>
          <a:bodyPr wrap="square" rtlCol="0">
            <a:spAutoFit/>
          </a:bodyPr>
          <a:lstStyle/>
          <a:p>
            <a:endParaRPr lang="en-US"/>
          </a:p>
        </p:txBody>
      </p:sp>
      <p:sp>
        <p:nvSpPr>
          <p:cNvPr id="11" name="TextBox 10">
            <a:extLst>
              <a:ext uri="{FF2B5EF4-FFF2-40B4-BE49-F238E27FC236}">
                <a16:creationId xmlns:a16="http://schemas.microsoft.com/office/drawing/2014/main" id="{784FCD69-6A10-9CC0-7003-91651E16591F}"/>
              </a:ext>
            </a:extLst>
          </p:cNvPr>
          <p:cNvSpPr txBox="1"/>
          <p:nvPr/>
        </p:nvSpPr>
        <p:spPr>
          <a:xfrm>
            <a:off x="3097762" y="1605909"/>
            <a:ext cx="8716348" cy="4431983"/>
          </a:xfrm>
          <a:prstGeom prst="rect">
            <a:avLst/>
          </a:prstGeom>
          <a:noFill/>
        </p:spPr>
        <p:txBody>
          <a:bodyPr wrap="square" rtlCol="0">
            <a:spAutoFit/>
          </a:bodyPr>
          <a:lstStyle/>
          <a:p>
            <a:pPr marL="457200" indent="-457200">
              <a:buFont typeface="+mj-lt"/>
              <a:buAutoNum type="arabicPeriod"/>
            </a:pPr>
            <a:r>
              <a:rPr lang="en-US" sz="2400">
                <a:latin typeface="Arial" panose="020B0604020202020204" pitchFamily="34" charset="0"/>
                <a:cs typeface="Arial" panose="020B0604020202020204" pitchFamily="34" charset="0"/>
              </a:rPr>
              <a:t>Tính toán giá trị trung bình (</a:t>
            </a:r>
            <a:r>
              <a:rPr lang="en-US" sz="2400">
                <a:latin typeface="Arial" panose="020B0604020202020204" pitchFamily="34" charset="0"/>
                <a:cs typeface="Arial" panose="020B0604020202020204" pitchFamily="34" charset="0"/>
                <a:sym typeface="Symbol" panose="05050102010706020507" pitchFamily="18" charset="2"/>
              </a:rPr>
              <a:t>) </a:t>
            </a:r>
            <a:r>
              <a:rPr lang="en-US" sz="2400">
                <a:latin typeface="Arial" panose="020B0604020202020204" pitchFamily="34" charset="0"/>
                <a:cs typeface="Arial" panose="020B0604020202020204" pitchFamily="34" charset="0"/>
              </a:rPr>
              <a:t>và độ lệch chuẩn (</a:t>
            </a:r>
            <a:r>
              <a:rPr lang="en-US" sz="2400">
                <a:latin typeface="Arial" panose="020B0604020202020204" pitchFamily="34" charset="0"/>
                <a:cs typeface="Arial" panose="020B0604020202020204" pitchFamily="34" charset="0"/>
                <a:sym typeface="Symbol" panose="05050102010706020507" pitchFamily="18" charset="2"/>
              </a:rPr>
              <a:t>) </a:t>
            </a:r>
            <a:r>
              <a:rPr lang="en-US" sz="2400">
                <a:latin typeface="Arial" panose="020B0604020202020204" pitchFamily="34" charset="0"/>
                <a:cs typeface="Arial" panose="020B0604020202020204" pitchFamily="34" charset="0"/>
              </a:rPr>
              <a:t>cho từng thuộc tính trong mỗi lớp</a:t>
            </a:r>
          </a:p>
          <a:p>
            <a:pPr marL="457200" indent="-457200">
              <a:buFont typeface="+mj-lt"/>
              <a:buAutoNum type="arabicPeriod"/>
            </a:pPr>
            <a:endParaRPr lang="en-US" sz="2400">
              <a:latin typeface="Arial" panose="020B0604020202020204" pitchFamily="34" charset="0"/>
              <a:cs typeface="Arial" panose="020B0604020202020204" pitchFamily="34" charset="0"/>
            </a:endParaRPr>
          </a:p>
          <a:p>
            <a:pPr marL="457200" indent="-457200">
              <a:buFont typeface="+mj-lt"/>
              <a:buAutoNum type="arabicPeriod"/>
            </a:pPr>
            <a:r>
              <a:rPr lang="en-US" sz="2400">
                <a:latin typeface="Arial" panose="020B0604020202020204" pitchFamily="34" charset="0"/>
                <a:cs typeface="Arial" panose="020B0604020202020204" pitchFamily="34" charset="0"/>
              </a:rPr>
              <a:t>Tính phân phối xác suất theo công thức Gauss.</a:t>
            </a:r>
          </a:p>
          <a:p>
            <a:pPr marL="457200" indent="-457200">
              <a:buFont typeface="+mj-lt"/>
              <a:buAutoNum type="arabicPeriod"/>
            </a:pPr>
            <a:endParaRPr lang="en-US" sz="2400">
              <a:latin typeface="Arial" panose="020B0604020202020204" pitchFamily="34" charset="0"/>
              <a:cs typeface="Arial" panose="020B0604020202020204" pitchFamily="34" charset="0"/>
            </a:endParaRPr>
          </a:p>
          <a:p>
            <a:pPr marL="457200" indent="-457200">
              <a:buFont typeface="+mj-lt"/>
              <a:buAutoNum type="arabicPeriod"/>
            </a:pPr>
            <a:endParaRPr lang="en-US" sz="2400">
              <a:latin typeface="Arial" panose="020B0604020202020204" pitchFamily="34" charset="0"/>
              <a:cs typeface="Arial" panose="020B0604020202020204" pitchFamily="34" charset="0"/>
            </a:endParaRPr>
          </a:p>
          <a:p>
            <a:pPr marL="457200" indent="-457200">
              <a:buFont typeface="+mj-lt"/>
              <a:buAutoNum type="arabicPeriod"/>
            </a:pPr>
            <a:endParaRPr lang="en-US" sz="2400">
              <a:latin typeface="Arial" panose="020B0604020202020204" pitchFamily="34" charset="0"/>
              <a:cs typeface="Arial" panose="020B0604020202020204" pitchFamily="34" charset="0"/>
            </a:endParaRPr>
          </a:p>
          <a:p>
            <a:pPr marL="457200" indent="-457200">
              <a:buFont typeface="+mj-lt"/>
              <a:buAutoNum type="arabicPeriod"/>
            </a:pPr>
            <a:endParaRPr lang="en-US" sz="2400">
              <a:latin typeface="Arial" panose="020B0604020202020204" pitchFamily="34" charset="0"/>
              <a:cs typeface="Arial" panose="020B0604020202020204" pitchFamily="34" charset="0"/>
            </a:endParaRPr>
          </a:p>
          <a:p>
            <a:pPr marL="457200" indent="-457200">
              <a:buFont typeface="+mj-lt"/>
              <a:buAutoNum type="arabicPeriod"/>
            </a:pPr>
            <a:endParaRPr lang="en-US" sz="2400">
              <a:latin typeface="Arial" panose="020B0604020202020204" pitchFamily="34" charset="0"/>
              <a:cs typeface="Arial" panose="020B0604020202020204" pitchFamily="34" charset="0"/>
            </a:endParaRPr>
          </a:p>
          <a:p>
            <a:pPr marL="457200" indent="-457200">
              <a:buFont typeface="+mj-lt"/>
              <a:buAutoNum type="arabicPeriod"/>
            </a:pPr>
            <a:r>
              <a:rPr lang="en-US" sz="2400">
                <a:latin typeface="Arial" panose="020B0604020202020204" pitchFamily="34" charset="0"/>
                <a:cs typeface="Arial" panose="020B0604020202020204" pitchFamily="34" charset="0"/>
              </a:rPr>
              <a:t>So sánh xác suất hậu nghiệm để phân loại dữ liệu mới vào lớp có xác suất cao nhất.</a:t>
            </a:r>
          </a:p>
          <a:p>
            <a:endParaRPr lang="en-US"/>
          </a:p>
        </p:txBody>
      </p:sp>
      <p:pic>
        <p:nvPicPr>
          <p:cNvPr id="14" name="Picture 13">
            <a:extLst>
              <a:ext uri="{FF2B5EF4-FFF2-40B4-BE49-F238E27FC236}">
                <a16:creationId xmlns:a16="http://schemas.microsoft.com/office/drawing/2014/main" id="{FA024047-2434-9CFF-EE12-91D30DF43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5192" y="3288026"/>
            <a:ext cx="4381898" cy="1519057"/>
          </a:xfrm>
          <a:prstGeom prst="rect">
            <a:avLst/>
          </a:prstGeom>
        </p:spPr>
      </p:pic>
    </p:spTree>
    <p:extLst>
      <p:ext uri="{BB962C8B-B14F-4D97-AF65-F5344CB8AC3E}">
        <p14:creationId xmlns:p14="http://schemas.microsoft.com/office/powerpoint/2010/main" val="4231403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2276E-72B3-5DCD-1AD8-4FC7165818B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5A78BD-B420-80B5-FBAF-DDFC95565621}"/>
              </a:ext>
            </a:extLst>
          </p:cNvPr>
          <p:cNvSpPr txBox="1"/>
          <p:nvPr/>
        </p:nvSpPr>
        <p:spPr>
          <a:xfrm>
            <a:off x="601741" y="121998"/>
            <a:ext cx="8248426" cy="707886"/>
          </a:xfrm>
          <a:prstGeom prst="rect">
            <a:avLst/>
          </a:prstGeom>
          <a:noFill/>
        </p:spPr>
        <p:txBody>
          <a:bodyPr wrap="square" rtlCol="0">
            <a:spAutoFit/>
          </a:bodyPr>
          <a:lstStyle/>
          <a:p>
            <a:r>
              <a:rPr lang="en-US" sz="4000" b="1">
                <a:latin typeface="Arial" panose="020B0604020202020204" pitchFamily="34" charset="0"/>
                <a:cs typeface="Arial" panose="020B0604020202020204" pitchFamily="34" charset="0"/>
              </a:rPr>
              <a:t>Dữ liệu:</a:t>
            </a:r>
            <a:endParaRPr lang="en-US" sz="4000" b="1" dirty="0">
              <a:latin typeface="Arial" panose="020B0604020202020204" pitchFamily="34" charset="0"/>
              <a:cs typeface="Arial" panose="020B0604020202020204" pitchFamily="34" charset="0"/>
            </a:endParaRPr>
          </a:p>
        </p:txBody>
      </p:sp>
      <p:pic>
        <p:nvPicPr>
          <p:cNvPr id="3" name="image19.png">
            <a:extLst>
              <a:ext uri="{FF2B5EF4-FFF2-40B4-BE49-F238E27FC236}">
                <a16:creationId xmlns:a16="http://schemas.microsoft.com/office/drawing/2014/main" id="{4C59065D-B6BF-8FBD-561C-C99A803FBB98}"/>
              </a:ext>
            </a:extLst>
          </p:cNvPr>
          <p:cNvPicPr/>
          <p:nvPr/>
        </p:nvPicPr>
        <p:blipFill>
          <a:blip r:embed="rId2"/>
          <a:srcRect/>
          <a:stretch>
            <a:fillRect/>
          </a:stretch>
        </p:blipFill>
        <p:spPr>
          <a:xfrm>
            <a:off x="6522720" y="0"/>
            <a:ext cx="5669280" cy="6858000"/>
          </a:xfrm>
          <a:prstGeom prst="rect">
            <a:avLst/>
          </a:prstGeom>
          <a:ln/>
        </p:spPr>
      </p:pic>
      <p:sp>
        <p:nvSpPr>
          <p:cNvPr id="4" name="TextBox 3">
            <a:extLst>
              <a:ext uri="{FF2B5EF4-FFF2-40B4-BE49-F238E27FC236}">
                <a16:creationId xmlns:a16="http://schemas.microsoft.com/office/drawing/2014/main" id="{1B90BD8F-CA62-96A2-4FFD-B5984854E708}"/>
              </a:ext>
            </a:extLst>
          </p:cNvPr>
          <p:cNvSpPr txBox="1"/>
          <p:nvPr/>
        </p:nvSpPr>
        <p:spPr>
          <a:xfrm>
            <a:off x="858644" y="1120119"/>
            <a:ext cx="5407173" cy="1815882"/>
          </a:xfrm>
          <a:prstGeom prst="rect">
            <a:avLst/>
          </a:prstGeom>
          <a:noFill/>
        </p:spPr>
        <p:txBody>
          <a:bodyPr wrap="square" rtlCol="0">
            <a:spAutoFit/>
          </a:bodyPr>
          <a:lstStyle/>
          <a:p>
            <a:pPr algn="just"/>
            <a:r>
              <a:rPr lang="en-US" sz="2800"/>
              <a:t>	</a:t>
            </a:r>
            <a:r>
              <a:rPr lang="vi-VN" sz="2800"/>
              <a:t>Sử dụng bộ dữ liệu "Pima Indians Diabetes" từ Kaggle, bao gồm hồ sơ y tế của hơn 700 bệnh nhân.</a:t>
            </a:r>
            <a:endParaRPr lang="en-US" sz="2800"/>
          </a:p>
        </p:txBody>
      </p:sp>
    </p:spTree>
    <p:extLst>
      <p:ext uri="{BB962C8B-B14F-4D97-AF65-F5344CB8AC3E}">
        <p14:creationId xmlns:p14="http://schemas.microsoft.com/office/powerpoint/2010/main" val="1520680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75856" y="1702525"/>
            <a:ext cx="8531223" cy="2346960"/>
          </a:xfrm>
        </p:spPr>
        <p:txBody>
          <a:bodyPr>
            <a:normAutofit fontScale="90000"/>
          </a:bodyPr>
          <a:lstStyle/>
          <a:p>
            <a:pPr algn="ctr"/>
            <a:r>
              <a:rPr lang="en-US" sz="5300" b="1">
                <a:latin typeface="Arial" panose="020B0604020202020204" pitchFamily="34" charset="0"/>
                <a:cs typeface="Arial" panose="020B0604020202020204" pitchFamily="34" charset="0"/>
              </a:rPr>
              <a:t>5.Một </a:t>
            </a:r>
            <a:r>
              <a:rPr lang="en-US" sz="5300" b="1" dirty="0" err="1">
                <a:latin typeface="Arial" panose="020B0604020202020204" pitchFamily="34" charset="0"/>
                <a:cs typeface="Arial" panose="020B0604020202020204" pitchFamily="34" charset="0"/>
              </a:rPr>
              <a:t>số</a:t>
            </a:r>
            <a:r>
              <a:rPr lang="en-US" sz="5300" b="1" dirty="0">
                <a:latin typeface="Arial" panose="020B0604020202020204" pitchFamily="34" charset="0"/>
                <a:cs typeface="Arial" panose="020B0604020202020204" pitchFamily="34" charset="0"/>
              </a:rPr>
              <a:t> </a:t>
            </a:r>
            <a:r>
              <a:rPr lang="en-US" sz="5300" b="1" dirty="0" err="1">
                <a:latin typeface="Arial" panose="020B0604020202020204" pitchFamily="34" charset="0"/>
                <a:cs typeface="Arial" panose="020B0604020202020204" pitchFamily="34" charset="0"/>
              </a:rPr>
              <a:t>hàm</a:t>
            </a:r>
            <a:r>
              <a:rPr lang="en-US" sz="5300" b="1" dirty="0">
                <a:latin typeface="Arial" panose="020B0604020202020204" pitchFamily="34" charset="0"/>
                <a:cs typeface="Arial" panose="020B0604020202020204" pitchFamily="34" charset="0"/>
              </a:rPr>
              <a:t> </a:t>
            </a:r>
            <a:r>
              <a:rPr lang="en-US" sz="5300" b="1" dirty="0" err="1">
                <a:latin typeface="Arial" panose="020B0604020202020204" pitchFamily="34" charset="0"/>
                <a:cs typeface="Arial" panose="020B0604020202020204" pitchFamily="34" charset="0"/>
              </a:rPr>
              <a:t>cài</a:t>
            </a:r>
            <a:r>
              <a:rPr lang="en-US" sz="5300" b="1" dirty="0">
                <a:latin typeface="Arial" panose="020B0604020202020204" pitchFamily="34" charset="0"/>
                <a:cs typeface="Arial" panose="020B0604020202020204" pitchFamily="34" charset="0"/>
              </a:rPr>
              <a:t> </a:t>
            </a:r>
            <a:r>
              <a:rPr lang="en-US" sz="5300" b="1" dirty="0" err="1">
                <a:latin typeface="Arial" panose="020B0604020202020204" pitchFamily="34" charset="0"/>
                <a:cs typeface="Arial" panose="020B0604020202020204" pitchFamily="34" charset="0"/>
              </a:rPr>
              <a:t>đặt</a:t>
            </a:r>
            <a:r>
              <a:rPr lang="en-US" sz="5300" b="1" dirty="0">
                <a:latin typeface="Arial" panose="020B0604020202020204" pitchFamily="34" charset="0"/>
                <a:cs typeface="Arial" panose="020B0604020202020204" pitchFamily="34" charset="0"/>
              </a:rPr>
              <a:t> </a:t>
            </a:r>
            <a:r>
              <a:rPr lang="en-US" sz="5300" b="1" dirty="0" err="1">
                <a:latin typeface="Arial" panose="020B0604020202020204" pitchFamily="34" charset="0"/>
                <a:cs typeface="Arial" panose="020B0604020202020204" pitchFamily="34" charset="0"/>
              </a:rPr>
              <a:t>chính</a:t>
            </a:r>
            <a:br>
              <a:rPr lang="en-US" dirty="0"/>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3258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FDC69839-7AED-49C4-B47A-D5595ABC8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109" y="2219425"/>
            <a:ext cx="5696279" cy="270178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34096D4E-8B4F-62B8-F551-56379B923E78}"/>
              </a:ext>
            </a:extLst>
          </p:cNvPr>
          <p:cNvSpPr>
            <a:spLocks noGrp="1"/>
          </p:cNvSpPr>
          <p:nvPr>
            <p:ph type="ctrTitle"/>
          </p:nvPr>
        </p:nvSpPr>
        <p:spPr>
          <a:xfrm>
            <a:off x="811948" y="1532243"/>
            <a:ext cx="4498599" cy="525780"/>
          </a:xfrm>
        </p:spPr>
        <p:txBody>
          <a:bodyPr>
            <a:normAutofit/>
          </a:bodyPr>
          <a:lstStyle/>
          <a:p>
            <a:pPr algn="l"/>
            <a:r>
              <a:rPr lang="vi-VN" sz="2400" b="1" i="0" u="none" strike="noStrike" dirty="0">
                <a:solidFill>
                  <a:srgbClr val="000000"/>
                </a:solidFill>
                <a:effectLst/>
                <a:latin typeface="Times New Roman" panose="02020603050405020304" pitchFamily="18" charset="0"/>
              </a:rPr>
              <a:t> </a:t>
            </a:r>
            <a:r>
              <a:rPr lang="vi-VN" sz="2400" b="1" i="0" u="none" strike="noStrike" dirty="0" err="1">
                <a:solidFill>
                  <a:srgbClr val="000000"/>
                </a:solidFill>
                <a:effectLst/>
                <a:latin typeface="+mn-lt"/>
              </a:rPr>
              <a:t>Đọc</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dữ</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liệu</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từ</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file</a:t>
            </a:r>
            <a:r>
              <a:rPr lang="vi-VN" sz="2400" b="1" i="0" u="none" strike="noStrike" dirty="0">
                <a:solidFill>
                  <a:srgbClr val="000000"/>
                </a:solidFill>
                <a:effectLst/>
                <a:latin typeface="+mn-lt"/>
              </a:rPr>
              <a:t> CSV.</a:t>
            </a:r>
            <a:endParaRPr lang="en-US" sz="2400" b="1" dirty="0">
              <a:latin typeface="+mn-lt"/>
            </a:endParaRPr>
          </a:p>
        </p:txBody>
      </p:sp>
      <p:pic>
        <p:nvPicPr>
          <p:cNvPr id="6" name="Picture 2">
            <a:extLst>
              <a:ext uri="{FF2B5EF4-FFF2-40B4-BE49-F238E27FC236}">
                <a16:creationId xmlns:a16="http://schemas.microsoft.com/office/drawing/2014/main" id="{E2CD640F-37B9-4878-BE04-E3279D0DD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5434" y="2219425"/>
            <a:ext cx="6091921" cy="2701785"/>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34096D4E-8B4F-62B8-F551-56379B923E78}"/>
              </a:ext>
            </a:extLst>
          </p:cNvPr>
          <p:cNvSpPr txBox="1">
            <a:spLocks/>
          </p:cNvSpPr>
          <p:nvPr/>
        </p:nvSpPr>
        <p:spPr>
          <a:xfrm>
            <a:off x="6301929" y="1099908"/>
            <a:ext cx="5305124" cy="958115"/>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err="1">
                <a:solidFill>
                  <a:srgbClr val="000000"/>
                </a:solidFill>
                <a:latin typeface="Arial" panose="020B0604020202020204" pitchFamily="34" charset="0"/>
                <a:cs typeface="Arial" panose="020B0604020202020204" pitchFamily="34" charset="0"/>
              </a:rPr>
              <a:t>Phân</a:t>
            </a:r>
            <a:r>
              <a:rPr lang="en-US" sz="2400" b="1" dirty="0">
                <a:solidFill>
                  <a:srgbClr val="000000"/>
                </a:solidFill>
                <a:latin typeface="Arial" panose="020B0604020202020204" pitchFamily="34" charset="0"/>
                <a:cs typeface="Arial" panose="020B0604020202020204" pitchFamily="34" charset="0"/>
              </a:rPr>
              <a:t> chia </a:t>
            </a:r>
            <a:r>
              <a:rPr lang="en-US" sz="2400" b="1" dirty="0" err="1">
                <a:solidFill>
                  <a:srgbClr val="000000"/>
                </a:solidFill>
                <a:latin typeface="Arial" panose="020B0604020202020204" pitchFamily="34" charset="0"/>
                <a:cs typeface="Arial" panose="020B0604020202020204" pitchFamily="34" charset="0"/>
              </a:rPr>
              <a:t>tập</a:t>
            </a:r>
            <a:r>
              <a:rPr lang="en-US" sz="2400" b="1" dirty="0">
                <a:solidFill>
                  <a:srgbClr val="000000"/>
                </a:solidFill>
                <a:latin typeface="Arial" panose="020B0604020202020204" pitchFamily="34" charset="0"/>
                <a:cs typeface="Arial" panose="020B0604020202020204" pitchFamily="34" charset="0"/>
              </a:rPr>
              <a:t> </a:t>
            </a:r>
            <a:r>
              <a:rPr lang="en-US" sz="2400" b="1" dirty="0" err="1">
                <a:solidFill>
                  <a:srgbClr val="000000"/>
                </a:solidFill>
                <a:latin typeface="Arial" panose="020B0604020202020204" pitchFamily="34" charset="0"/>
                <a:cs typeface="Arial" panose="020B0604020202020204" pitchFamily="34" charset="0"/>
              </a:rPr>
              <a:t>dữ</a:t>
            </a:r>
            <a:r>
              <a:rPr lang="en-US" sz="2400" b="1" dirty="0">
                <a:solidFill>
                  <a:srgbClr val="000000"/>
                </a:solidFill>
                <a:latin typeface="Arial" panose="020B0604020202020204" pitchFamily="34" charset="0"/>
                <a:cs typeface="Arial" panose="020B0604020202020204" pitchFamily="34" charset="0"/>
              </a:rPr>
              <a:t> </a:t>
            </a:r>
            <a:r>
              <a:rPr lang="en-US" sz="2400" b="1" dirty="0" err="1">
                <a:solidFill>
                  <a:srgbClr val="000000"/>
                </a:solidFill>
                <a:latin typeface="Arial" panose="020B0604020202020204" pitchFamily="34" charset="0"/>
                <a:cs typeface="Arial" panose="020B0604020202020204" pitchFamily="34" charset="0"/>
              </a:rPr>
              <a:t>liệu</a:t>
            </a:r>
            <a:r>
              <a:rPr lang="en-US" sz="2400" b="1" dirty="0">
                <a:solidFill>
                  <a:srgbClr val="000000"/>
                </a:solidFill>
                <a:latin typeface="Arial" panose="020B0604020202020204" pitchFamily="34" charset="0"/>
                <a:cs typeface="Arial" panose="020B0604020202020204" pitchFamily="34" charset="0"/>
              </a:rPr>
              <a:t> </a:t>
            </a:r>
            <a:r>
              <a:rPr lang="en-US" sz="2400" b="1" dirty="0" err="1">
                <a:solidFill>
                  <a:srgbClr val="000000"/>
                </a:solidFill>
                <a:latin typeface="Arial" panose="020B0604020202020204" pitchFamily="34" charset="0"/>
                <a:cs typeface="Arial" panose="020B0604020202020204" pitchFamily="34" charset="0"/>
              </a:rPr>
              <a:t>theo</a:t>
            </a:r>
            <a:r>
              <a:rPr lang="en-US" sz="2400" b="1" dirty="0">
                <a:solidFill>
                  <a:srgbClr val="000000"/>
                </a:solidFill>
                <a:latin typeface="Arial" panose="020B0604020202020204" pitchFamily="34" charset="0"/>
                <a:cs typeface="Arial" panose="020B0604020202020204" pitchFamily="34" charset="0"/>
              </a:rPr>
              <a:t> class (class 0 </a:t>
            </a:r>
            <a:r>
              <a:rPr lang="en-US" sz="2400" b="1" dirty="0" err="1">
                <a:solidFill>
                  <a:srgbClr val="000000"/>
                </a:solidFill>
                <a:latin typeface="Arial" panose="020B0604020202020204" pitchFamily="34" charset="0"/>
                <a:cs typeface="Arial" panose="020B0604020202020204" pitchFamily="34" charset="0"/>
              </a:rPr>
              <a:t>và</a:t>
            </a:r>
            <a:r>
              <a:rPr lang="en-US" sz="2400" b="1" dirty="0">
                <a:solidFill>
                  <a:srgbClr val="000000"/>
                </a:solidFill>
                <a:latin typeface="Arial" panose="020B0604020202020204" pitchFamily="34" charset="0"/>
                <a:cs typeface="Arial" panose="020B0604020202020204" pitchFamily="34" charset="0"/>
              </a:rPr>
              <a:t> class 1).</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0572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8FEE11-3AE3-43C5-904F-A8A4B47E4DCD}"/>
              </a:ext>
            </a:extLst>
          </p:cNvPr>
          <p:cNvSpPr txBox="1">
            <a:spLocks/>
          </p:cNvSpPr>
          <p:nvPr/>
        </p:nvSpPr>
        <p:spPr>
          <a:xfrm>
            <a:off x="558903" y="1205670"/>
            <a:ext cx="5034175" cy="5257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rtl="0">
              <a:spcBef>
                <a:spcPts val="1200"/>
              </a:spcBef>
              <a:spcAft>
                <a:spcPts val="0"/>
              </a:spcAft>
            </a:pPr>
            <a:r>
              <a:rPr lang="vi-VN" sz="2400" b="1" i="0" u="none" strike="noStrike" dirty="0">
                <a:solidFill>
                  <a:srgbClr val="000000"/>
                </a:solidFill>
                <a:effectLst/>
                <a:latin typeface="+mn-lt"/>
              </a:rPr>
              <a:t>Phân chia </a:t>
            </a:r>
            <a:r>
              <a:rPr lang="vi-VN" sz="2400" b="1" i="0" u="none" strike="noStrike" dirty="0" err="1">
                <a:solidFill>
                  <a:srgbClr val="000000"/>
                </a:solidFill>
                <a:effectLst/>
                <a:latin typeface="+mn-lt"/>
              </a:rPr>
              <a:t>tập</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dữ</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liệu</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thành</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Training</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và</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Testing</a:t>
            </a:r>
            <a:endParaRPr lang="vi-VN" sz="2400" b="1" dirty="0">
              <a:effectLst/>
              <a:latin typeface="+mn-lt"/>
            </a:endParaRPr>
          </a:p>
        </p:txBody>
      </p:sp>
      <p:pic>
        <p:nvPicPr>
          <p:cNvPr id="5" name="Picture 2">
            <a:extLst>
              <a:ext uri="{FF2B5EF4-FFF2-40B4-BE49-F238E27FC236}">
                <a16:creationId xmlns:a16="http://schemas.microsoft.com/office/drawing/2014/main" id="{EE8D7F92-C0F1-4A85-8709-5FD044B86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 y="2041675"/>
            <a:ext cx="5384696" cy="352901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6A8FEE11-3AE3-43C5-904F-A8A4B47E4DCD}"/>
              </a:ext>
            </a:extLst>
          </p:cNvPr>
          <p:cNvSpPr txBox="1">
            <a:spLocks/>
          </p:cNvSpPr>
          <p:nvPr/>
        </p:nvSpPr>
        <p:spPr>
          <a:xfrm>
            <a:off x="6521165" y="942780"/>
            <a:ext cx="5410200" cy="5257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rtl="0">
              <a:spcBef>
                <a:spcPts val="1200"/>
              </a:spcBef>
              <a:spcAft>
                <a:spcPts val="0"/>
              </a:spcAft>
            </a:pPr>
            <a:r>
              <a:rPr lang="vi-VN" sz="2400" b="1" i="0" u="none" strike="noStrike" dirty="0" err="1">
                <a:solidFill>
                  <a:srgbClr val="000000"/>
                </a:solidFill>
                <a:effectLst/>
                <a:latin typeface="+mn-lt"/>
              </a:rPr>
              <a:t>Tính</a:t>
            </a:r>
            <a:r>
              <a:rPr lang="vi-VN" sz="2400" b="1" i="0" u="none" strike="noStrike" dirty="0">
                <a:solidFill>
                  <a:srgbClr val="000000"/>
                </a:solidFill>
                <a:effectLst/>
                <a:latin typeface="+mn-lt"/>
              </a:rPr>
              <a:t> phân </a:t>
            </a:r>
            <a:r>
              <a:rPr lang="vi-VN" sz="2400" b="1" i="0" u="none" strike="noStrike" dirty="0" err="1">
                <a:solidFill>
                  <a:srgbClr val="000000"/>
                </a:solidFill>
                <a:effectLst/>
                <a:latin typeface="+mn-lt"/>
              </a:rPr>
              <a:t>phối</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Gauss</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của</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biến</a:t>
            </a:r>
            <a:r>
              <a:rPr lang="vi-VN" sz="2400" b="1" i="0" u="none" strike="noStrike" dirty="0">
                <a:solidFill>
                  <a:srgbClr val="000000"/>
                </a:solidFill>
                <a:effectLst/>
                <a:latin typeface="+mn-lt"/>
              </a:rPr>
              <a:t> liên </a:t>
            </a:r>
            <a:r>
              <a:rPr lang="vi-VN" sz="2400" b="1" i="0" u="none" strike="noStrike" dirty="0" err="1">
                <a:solidFill>
                  <a:srgbClr val="000000"/>
                </a:solidFill>
                <a:effectLst/>
                <a:latin typeface="+mn-lt"/>
              </a:rPr>
              <a:t>tục</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và</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tính</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xác</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suất</a:t>
            </a:r>
            <a:r>
              <a:rPr lang="vi-VN" sz="2400" b="1" i="0" u="none" strike="noStrike" dirty="0">
                <a:solidFill>
                  <a:srgbClr val="000000"/>
                </a:solidFill>
                <a:effectLst/>
                <a:latin typeface="+mn-lt"/>
              </a:rPr>
              <a:t> cho </a:t>
            </a:r>
            <a:r>
              <a:rPr lang="vi-VN" sz="2400" b="1" i="0" u="none" strike="noStrike" dirty="0" err="1">
                <a:solidFill>
                  <a:srgbClr val="000000"/>
                </a:solidFill>
                <a:effectLst/>
                <a:latin typeface="+mn-lt"/>
              </a:rPr>
              <a:t>mỗi</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thuộc</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tính</a:t>
            </a:r>
            <a:r>
              <a:rPr lang="vi-VN" sz="2400" b="1" i="0" u="none" strike="noStrike" dirty="0">
                <a:solidFill>
                  <a:srgbClr val="000000"/>
                </a:solidFill>
                <a:effectLst/>
                <a:latin typeface="+mn-lt"/>
              </a:rPr>
              <a:t> </a:t>
            </a:r>
            <a:r>
              <a:rPr lang="vi-VN" sz="2400" b="1" i="0" u="none" strike="noStrike" dirty="0" err="1">
                <a:solidFill>
                  <a:srgbClr val="000000"/>
                </a:solidFill>
                <a:effectLst/>
                <a:latin typeface="+mn-lt"/>
              </a:rPr>
              <a:t>được</a:t>
            </a:r>
            <a:r>
              <a:rPr lang="vi-VN" sz="2400" b="1" i="0" u="none" strike="noStrike" dirty="0">
                <a:solidFill>
                  <a:srgbClr val="000000"/>
                </a:solidFill>
                <a:effectLst/>
                <a:latin typeface="+mn-lt"/>
              </a:rPr>
              <a:t> chia theo </a:t>
            </a:r>
            <a:r>
              <a:rPr lang="vi-VN" sz="2400" b="1" i="0" u="none" strike="noStrike" dirty="0" err="1">
                <a:solidFill>
                  <a:srgbClr val="000000"/>
                </a:solidFill>
                <a:effectLst/>
                <a:latin typeface="+mn-lt"/>
              </a:rPr>
              <a:t>class</a:t>
            </a:r>
            <a:r>
              <a:rPr lang="vi-VN" sz="2400" b="1" i="0" u="none" strike="noStrike" dirty="0">
                <a:solidFill>
                  <a:srgbClr val="000000"/>
                </a:solidFill>
                <a:effectLst/>
                <a:latin typeface="+mn-lt"/>
              </a:rPr>
              <a:t> (0 </a:t>
            </a:r>
            <a:r>
              <a:rPr lang="vi-VN" sz="2400" b="1" i="0" u="none" strike="noStrike" dirty="0" err="1">
                <a:solidFill>
                  <a:srgbClr val="000000"/>
                </a:solidFill>
                <a:effectLst/>
                <a:latin typeface="+mn-lt"/>
              </a:rPr>
              <a:t>và</a:t>
            </a:r>
            <a:r>
              <a:rPr lang="vi-VN" sz="2400" b="1" i="0" u="none" strike="noStrike" dirty="0">
                <a:solidFill>
                  <a:srgbClr val="000000"/>
                </a:solidFill>
                <a:effectLst/>
                <a:latin typeface="+mn-lt"/>
              </a:rPr>
              <a:t> 1).</a:t>
            </a:r>
            <a:endParaRPr lang="vi-VN" sz="2400" b="1" dirty="0">
              <a:effectLst/>
              <a:latin typeface="+mn-lt"/>
            </a:endParaRPr>
          </a:p>
        </p:txBody>
      </p:sp>
      <p:pic>
        <p:nvPicPr>
          <p:cNvPr id="8" name="Picture 2">
            <a:extLst>
              <a:ext uri="{FF2B5EF4-FFF2-40B4-BE49-F238E27FC236}">
                <a16:creationId xmlns:a16="http://schemas.microsoft.com/office/drawing/2014/main" id="{B527FC90-4F82-4500-B73F-1EEC99871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9920" y="2041675"/>
            <a:ext cx="4876800" cy="3657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789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8FEE11-3AE3-43C5-904F-A8A4B47E4DCD}"/>
              </a:ext>
            </a:extLst>
          </p:cNvPr>
          <p:cNvSpPr txBox="1">
            <a:spLocks/>
          </p:cNvSpPr>
          <p:nvPr/>
        </p:nvSpPr>
        <p:spPr>
          <a:xfrm>
            <a:off x="435429" y="1258146"/>
            <a:ext cx="5283200" cy="5257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a:spcBef>
                <a:spcPts val="1200"/>
              </a:spcBef>
            </a:pPr>
            <a:r>
              <a:rPr lang="vi-VN" sz="2400" b="1" dirty="0">
                <a:solidFill>
                  <a:srgbClr val="000000"/>
                </a:solidFill>
                <a:latin typeface="+mn-lt"/>
              </a:rPr>
              <a:t>Tính giá trị trung bình và độ lệch chuẩn cho từng thuộc tính</a:t>
            </a:r>
            <a:endParaRPr lang="vi-VN" sz="2400" b="1" dirty="0">
              <a:effectLst/>
              <a:latin typeface="+mn-lt"/>
            </a:endParaRPr>
          </a:p>
        </p:txBody>
      </p:sp>
      <p:pic>
        <p:nvPicPr>
          <p:cNvPr id="6" name="Picture 2">
            <a:extLst>
              <a:ext uri="{FF2B5EF4-FFF2-40B4-BE49-F238E27FC236}">
                <a16:creationId xmlns:a16="http://schemas.microsoft.com/office/drawing/2014/main" id="{563AE108-5013-4A1B-98A1-F96B60C58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325" y="2210647"/>
            <a:ext cx="5771676" cy="3817620"/>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6A8FEE11-3AE3-43C5-904F-A8A4B47E4DCD}"/>
              </a:ext>
            </a:extLst>
          </p:cNvPr>
          <p:cNvSpPr txBox="1">
            <a:spLocks/>
          </p:cNvSpPr>
          <p:nvPr/>
        </p:nvSpPr>
        <p:spPr>
          <a:xfrm>
            <a:off x="6096000" y="1377950"/>
            <a:ext cx="6180494" cy="1430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a:spcBef>
                <a:spcPts val="1200"/>
              </a:spcBef>
            </a:pPr>
            <a:r>
              <a:rPr lang="vi-VN" sz="2400" b="1" dirty="0" err="1">
                <a:solidFill>
                  <a:srgbClr val="000000"/>
                </a:solidFill>
                <a:latin typeface="+mn-lt"/>
              </a:rPr>
              <a:t>Sử</a:t>
            </a:r>
            <a:r>
              <a:rPr lang="vi-VN" sz="2400" b="1" dirty="0">
                <a:solidFill>
                  <a:srgbClr val="000000"/>
                </a:solidFill>
                <a:latin typeface="+mn-lt"/>
              </a:rPr>
              <a:t> </a:t>
            </a:r>
            <a:r>
              <a:rPr lang="vi-VN" sz="2400" b="1" dirty="0" err="1">
                <a:solidFill>
                  <a:srgbClr val="000000"/>
                </a:solidFill>
                <a:latin typeface="+mn-lt"/>
              </a:rPr>
              <a:t>dụng</a:t>
            </a:r>
            <a:r>
              <a:rPr lang="vi-VN" sz="2400" b="1" dirty="0">
                <a:solidFill>
                  <a:srgbClr val="000000"/>
                </a:solidFill>
                <a:latin typeface="+mn-lt"/>
              </a:rPr>
              <a:t> 2 </a:t>
            </a:r>
            <a:r>
              <a:rPr lang="vi-VN" sz="2400" b="1" dirty="0" err="1">
                <a:solidFill>
                  <a:srgbClr val="000000"/>
                </a:solidFill>
                <a:latin typeface="+mn-lt"/>
              </a:rPr>
              <a:t>hàm</a:t>
            </a:r>
            <a:r>
              <a:rPr lang="vi-VN" sz="2400" b="1" dirty="0">
                <a:solidFill>
                  <a:srgbClr val="000000"/>
                </a:solidFill>
                <a:latin typeface="+mn-lt"/>
              </a:rPr>
              <a:t> ở trên </a:t>
            </a:r>
            <a:r>
              <a:rPr lang="vi-VN" sz="2400" b="1" dirty="0" err="1">
                <a:solidFill>
                  <a:srgbClr val="000000"/>
                </a:solidFill>
                <a:latin typeface="+mn-lt"/>
              </a:rPr>
              <a:t>để</a:t>
            </a:r>
            <a:r>
              <a:rPr lang="vi-VN" sz="2400" b="1" dirty="0">
                <a:solidFill>
                  <a:srgbClr val="000000"/>
                </a:solidFill>
                <a:latin typeface="+mn-lt"/>
              </a:rPr>
              <a:t> </a:t>
            </a:r>
            <a:r>
              <a:rPr lang="vi-VN" sz="2400" b="1" dirty="0" err="1">
                <a:solidFill>
                  <a:srgbClr val="000000"/>
                </a:solidFill>
                <a:latin typeface="+mn-lt"/>
              </a:rPr>
              <a:t>tính</a:t>
            </a:r>
            <a:r>
              <a:rPr lang="vi-VN" sz="2400" b="1" dirty="0">
                <a:solidFill>
                  <a:srgbClr val="000000"/>
                </a:solidFill>
                <a:latin typeface="+mn-lt"/>
              </a:rPr>
              <a:t> </a:t>
            </a:r>
            <a:r>
              <a:rPr lang="vi-VN" sz="2400" b="1" dirty="0" err="1">
                <a:solidFill>
                  <a:srgbClr val="000000"/>
                </a:solidFill>
                <a:latin typeface="+mn-lt"/>
              </a:rPr>
              <a:t>giá</a:t>
            </a:r>
            <a:r>
              <a:rPr lang="vi-VN" sz="2400" b="1" dirty="0">
                <a:solidFill>
                  <a:srgbClr val="000000"/>
                </a:solidFill>
                <a:latin typeface="+mn-lt"/>
              </a:rPr>
              <a:t> </a:t>
            </a:r>
            <a:r>
              <a:rPr lang="vi-VN" sz="2400" b="1" dirty="0" err="1">
                <a:solidFill>
                  <a:srgbClr val="000000"/>
                </a:solidFill>
                <a:latin typeface="+mn-lt"/>
              </a:rPr>
              <a:t>trị</a:t>
            </a:r>
            <a:r>
              <a:rPr lang="vi-VN" sz="2400" b="1" dirty="0">
                <a:solidFill>
                  <a:srgbClr val="000000"/>
                </a:solidFill>
                <a:latin typeface="+mn-lt"/>
              </a:rPr>
              <a:t> trung </a:t>
            </a:r>
            <a:r>
              <a:rPr lang="vi-VN" sz="2400" b="1" dirty="0" err="1">
                <a:solidFill>
                  <a:srgbClr val="000000"/>
                </a:solidFill>
                <a:latin typeface="+mn-lt"/>
              </a:rPr>
              <a:t>bình</a:t>
            </a:r>
            <a:r>
              <a:rPr lang="vi-VN" sz="2400" b="1" dirty="0">
                <a:solidFill>
                  <a:srgbClr val="000000"/>
                </a:solidFill>
                <a:latin typeface="+mn-lt"/>
              </a:rPr>
              <a:t> </a:t>
            </a:r>
            <a:r>
              <a:rPr lang="vi-VN" sz="2400" b="1" dirty="0" err="1">
                <a:solidFill>
                  <a:srgbClr val="000000"/>
                </a:solidFill>
                <a:latin typeface="+mn-lt"/>
              </a:rPr>
              <a:t>và</a:t>
            </a:r>
            <a:r>
              <a:rPr lang="vi-VN" sz="2400" b="1" dirty="0">
                <a:solidFill>
                  <a:srgbClr val="000000"/>
                </a:solidFill>
                <a:latin typeface="+mn-lt"/>
              </a:rPr>
              <a:t> </a:t>
            </a:r>
            <a:r>
              <a:rPr lang="vi-VN" sz="2400" b="1" dirty="0" err="1">
                <a:solidFill>
                  <a:srgbClr val="000000"/>
                </a:solidFill>
                <a:latin typeface="+mn-lt"/>
              </a:rPr>
              <a:t>độ</a:t>
            </a:r>
            <a:r>
              <a:rPr lang="vi-VN" sz="2400" b="1" dirty="0">
                <a:solidFill>
                  <a:srgbClr val="000000"/>
                </a:solidFill>
                <a:latin typeface="+mn-lt"/>
              </a:rPr>
              <a:t> </a:t>
            </a:r>
            <a:r>
              <a:rPr lang="vi-VN" sz="2400" b="1" dirty="0" err="1">
                <a:solidFill>
                  <a:srgbClr val="000000"/>
                </a:solidFill>
                <a:latin typeface="+mn-lt"/>
              </a:rPr>
              <a:t>lệch</a:t>
            </a:r>
            <a:r>
              <a:rPr lang="vi-VN" sz="2400" b="1" dirty="0">
                <a:solidFill>
                  <a:srgbClr val="000000"/>
                </a:solidFill>
                <a:latin typeface="+mn-lt"/>
              </a:rPr>
              <a:t> </a:t>
            </a:r>
            <a:r>
              <a:rPr lang="vi-VN" sz="2400" b="1" dirty="0" err="1">
                <a:solidFill>
                  <a:srgbClr val="000000"/>
                </a:solidFill>
                <a:latin typeface="+mn-lt"/>
              </a:rPr>
              <a:t>chuẩn</a:t>
            </a:r>
            <a:r>
              <a:rPr lang="vi-VN" sz="2400" b="1" dirty="0">
                <a:solidFill>
                  <a:srgbClr val="000000"/>
                </a:solidFill>
                <a:latin typeface="+mn-lt"/>
              </a:rPr>
              <a:t> </a:t>
            </a:r>
            <a:r>
              <a:rPr lang="vi-VN" sz="2400" b="1" dirty="0" err="1">
                <a:solidFill>
                  <a:srgbClr val="000000"/>
                </a:solidFill>
                <a:latin typeface="+mn-lt"/>
              </a:rPr>
              <a:t>của</a:t>
            </a:r>
            <a:r>
              <a:rPr lang="vi-VN" sz="2400" b="1" dirty="0">
                <a:solidFill>
                  <a:srgbClr val="000000"/>
                </a:solidFill>
                <a:latin typeface="+mn-lt"/>
              </a:rPr>
              <a:t> </a:t>
            </a:r>
            <a:r>
              <a:rPr lang="vi-VN" sz="2400" b="1" dirty="0" err="1">
                <a:solidFill>
                  <a:srgbClr val="000000"/>
                </a:solidFill>
                <a:latin typeface="+mn-lt"/>
              </a:rPr>
              <a:t>tất</a:t>
            </a:r>
            <a:r>
              <a:rPr lang="vi-VN" sz="2400" b="1" dirty="0">
                <a:solidFill>
                  <a:srgbClr val="000000"/>
                </a:solidFill>
                <a:latin typeface="+mn-lt"/>
              </a:rPr>
              <a:t> </a:t>
            </a:r>
            <a:r>
              <a:rPr lang="vi-VN" sz="2400" b="1" dirty="0" err="1">
                <a:solidFill>
                  <a:srgbClr val="000000"/>
                </a:solidFill>
                <a:latin typeface="+mn-lt"/>
              </a:rPr>
              <a:t>cả</a:t>
            </a:r>
            <a:r>
              <a:rPr lang="vi-VN" sz="2400" b="1" dirty="0">
                <a:solidFill>
                  <a:srgbClr val="000000"/>
                </a:solidFill>
                <a:latin typeface="+mn-lt"/>
              </a:rPr>
              <a:t> </a:t>
            </a:r>
            <a:r>
              <a:rPr lang="vi-VN" sz="2400" b="1" dirty="0" err="1">
                <a:solidFill>
                  <a:srgbClr val="000000"/>
                </a:solidFill>
                <a:latin typeface="+mn-lt"/>
              </a:rPr>
              <a:t>các</a:t>
            </a:r>
            <a:r>
              <a:rPr lang="vi-VN" sz="2400" b="1" dirty="0">
                <a:solidFill>
                  <a:srgbClr val="000000"/>
                </a:solidFill>
                <a:latin typeface="+mn-lt"/>
              </a:rPr>
              <a:t> </a:t>
            </a:r>
            <a:r>
              <a:rPr lang="vi-VN" sz="2400" b="1" dirty="0" err="1">
                <a:solidFill>
                  <a:srgbClr val="000000"/>
                </a:solidFill>
                <a:latin typeface="+mn-lt"/>
              </a:rPr>
              <a:t>bộ</a:t>
            </a:r>
            <a:r>
              <a:rPr lang="vi-VN" sz="2400" b="1" dirty="0">
                <a:solidFill>
                  <a:srgbClr val="000000"/>
                </a:solidFill>
                <a:latin typeface="+mn-lt"/>
              </a:rPr>
              <a:t> </a:t>
            </a:r>
            <a:r>
              <a:rPr lang="vi-VN" sz="2400" b="1" dirty="0" err="1">
                <a:solidFill>
                  <a:srgbClr val="000000"/>
                </a:solidFill>
                <a:latin typeface="+mn-lt"/>
              </a:rPr>
              <a:t>dữ</a:t>
            </a:r>
            <a:r>
              <a:rPr lang="vi-VN" sz="2400" b="1" dirty="0">
                <a:solidFill>
                  <a:srgbClr val="000000"/>
                </a:solidFill>
                <a:latin typeface="+mn-lt"/>
              </a:rPr>
              <a:t> </a:t>
            </a:r>
            <a:r>
              <a:rPr lang="vi-VN" sz="2400" b="1" dirty="0" err="1">
                <a:solidFill>
                  <a:srgbClr val="000000"/>
                </a:solidFill>
                <a:latin typeface="+mn-lt"/>
              </a:rPr>
              <a:t>liệu</a:t>
            </a:r>
            <a:r>
              <a:rPr lang="vi-VN" sz="2400" b="1" dirty="0">
                <a:solidFill>
                  <a:srgbClr val="000000"/>
                </a:solidFill>
                <a:latin typeface="+mn-lt"/>
              </a:rPr>
              <a:t> trong </a:t>
            </a:r>
            <a:r>
              <a:rPr lang="vi-VN" sz="2400" b="1" dirty="0" err="1">
                <a:solidFill>
                  <a:srgbClr val="000000"/>
                </a:solidFill>
                <a:latin typeface="+mn-lt"/>
              </a:rPr>
              <a:t>tập</a:t>
            </a:r>
            <a:r>
              <a:rPr lang="vi-VN" sz="2400" b="1" dirty="0">
                <a:solidFill>
                  <a:srgbClr val="000000"/>
                </a:solidFill>
                <a:latin typeface="+mn-lt"/>
              </a:rPr>
              <a:t> </a:t>
            </a:r>
            <a:r>
              <a:rPr lang="vi-VN" sz="2400" b="1" dirty="0" err="1">
                <a:solidFill>
                  <a:srgbClr val="000000"/>
                </a:solidFill>
                <a:latin typeface="+mn-lt"/>
              </a:rPr>
              <a:t>dữ</a:t>
            </a:r>
            <a:r>
              <a:rPr lang="vi-VN" sz="2400" b="1" dirty="0">
                <a:solidFill>
                  <a:srgbClr val="000000"/>
                </a:solidFill>
                <a:latin typeface="+mn-lt"/>
              </a:rPr>
              <a:t> </a:t>
            </a:r>
            <a:r>
              <a:rPr lang="vi-VN" sz="2400" b="1" dirty="0" err="1">
                <a:solidFill>
                  <a:srgbClr val="000000"/>
                </a:solidFill>
                <a:latin typeface="+mn-lt"/>
              </a:rPr>
              <a:t>liệu</a:t>
            </a:r>
            <a:r>
              <a:rPr lang="vi-VN" sz="2400" b="1" dirty="0">
                <a:solidFill>
                  <a:srgbClr val="000000"/>
                </a:solidFill>
                <a:latin typeface="+mn-lt"/>
              </a:rPr>
              <a:t>.</a:t>
            </a:r>
            <a:endParaRPr lang="vi-VN" sz="2400" b="1" dirty="0">
              <a:solidFill>
                <a:srgbClr val="FEF3ED"/>
              </a:solidFill>
              <a:latin typeface="+mn-lt"/>
            </a:endParaRPr>
          </a:p>
        </p:txBody>
      </p:sp>
      <p:pic>
        <p:nvPicPr>
          <p:cNvPr id="11" name="Picture 2">
            <a:extLst>
              <a:ext uri="{FF2B5EF4-FFF2-40B4-BE49-F238E27FC236}">
                <a16:creationId xmlns:a16="http://schemas.microsoft.com/office/drawing/2014/main" id="{39ED4190-4252-4485-A78C-BAEFF9171B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2400" y="2210647"/>
            <a:ext cx="5689600" cy="3817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7871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8FEE11-3AE3-43C5-904F-A8A4B47E4DCD}"/>
              </a:ext>
            </a:extLst>
          </p:cNvPr>
          <p:cNvSpPr txBox="1">
            <a:spLocks/>
          </p:cNvSpPr>
          <p:nvPr/>
        </p:nvSpPr>
        <p:spPr>
          <a:xfrm>
            <a:off x="929440" y="583142"/>
            <a:ext cx="10333117" cy="15352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a:spcBef>
                <a:spcPts val="1200"/>
              </a:spcBef>
            </a:pPr>
            <a:r>
              <a:rPr lang="vi-VN" sz="2400" b="1" dirty="0">
                <a:solidFill>
                  <a:srgbClr val="000000"/>
                </a:solidFill>
                <a:latin typeface="Arial" panose="020B0604020202020204" pitchFamily="34" charset="0"/>
                <a:cs typeface="Arial" panose="020B0604020202020204" pitchFamily="34" charset="0"/>
              </a:rPr>
              <a:t>Dự đoán tập dữ liệu thuộc class nào (0 và 1).</a:t>
            </a:r>
            <a:endParaRPr lang="vi-VN" sz="2400" b="1" dirty="0">
              <a:latin typeface="Arial" panose="020B0604020202020204" pitchFamily="34" charset="0"/>
              <a:cs typeface="Arial" panose="020B0604020202020204" pitchFamily="34" charset="0"/>
            </a:endParaRPr>
          </a:p>
          <a:p>
            <a:pPr marL="269989" algn="ctr" rtl="0">
              <a:spcBef>
                <a:spcPts val="1200"/>
              </a:spcBef>
              <a:spcAft>
                <a:spcPts val="0"/>
              </a:spcAft>
            </a:pPr>
            <a:endParaRPr lang="vi-VN" sz="2900" dirty="0">
              <a:effectLst/>
            </a:endParaRPr>
          </a:p>
        </p:txBody>
      </p:sp>
      <p:sp>
        <p:nvSpPr>
          <p:cNvPr id="7" name="Title 1">
            <a:extLst>
              <a:ext uri="{FF2B5EF4-FFF2-40B4-BE49-F238E27FC236}">
                <a16:creationId xmlns:a16="http://schemas.microsoft.com/office/drawing/2014/main" id="{6A8FEE11-3AE3-43C5-904F-A8A4B47E4DCD}"/>
              </a:ext>
            </a:extLst>
          </p:cNvPr>
          <p:cNvSpPr txBox="1">
            <a:spLocks/>
          </p:cNvSpPr>
          <p:nvPr/>
        </p:nvSpPr>
        <p:spPr>
          <a:xfrm>
            <a:off x="6781800" y="1592580"/>
            <a:ext cx="4907280" cy="5257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rtl="0">
              <a:spcBef>
                <a:spcPts val="1200"/>
              </a:spcBef>
              <a:spcAft>
                <a:spcPts val="0"/>
              </a:spcAft>
            </a:pPr>
            <a:endParaRPr lang="vi-VN" sz="2800" b="0" dirty="0">
              <a:effectLst/>
            </a:endParaRPr>
          </a:p>
        </p:txBody>
      </p:sp>
      <p:pic>
        <p:nvPicPr>
          <p:cNvPr id="6" name="Picture 2">
            <a:extLst>
              <a:ext uri="{FF2B5EF4-FFF2-40B4-BE49-F238E27FC236}">
                <a16:creationId xmlns:a16="http://schemas.microsoft.com/office/drawing/2014/main" id="{822BB063-8912-48AA-B4C8-2EA99616C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899" y="1433959"/>
            <a:ext cx="9728201" cy="4995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177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8FEE11-3AE3-43C5-904F-A8A4B47E4DCD}"/>
              </a:ext>
            </a:extLst>
          </p:cNvPr>
          <p:cNvSpPr txBox="1">
            <a:spLocks/>
          </p:cNvSpPr>
          <p:nvPr/>
        </p:nvSpPr>
        <p:spPr>
          <a:xfrm>
            <a:off x="1308431" y="301982"/>
            <a:ext cx="5059191" cy="61552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rtl="0">
              <a:spcBef>
                <a:spcPts val="1200"/>
              </a:spcBef>
              <a:spcAft>
                <a:spcPts val="0"/>
              </a:spcAft>
            </a:pPr>
            <a:r>
              <a:rPr lang="vi-VN" sz="2400" b="1" dirty="0">
                <a:solidFill>
                  <a:schemeClr val="tx1"/>
                </a:solidFill>
                <a:effectLst/>
                <a:latin typeface="+mn-lt"/>
              </a:rPr>
              <a:t>Hàm main thực hiện xử lý</a:t>
            </a:r>
          </a:p>
        </p:txBody>
      </p:sp>
      <p:pic>
        <p:nvPicPr>
          <p:cNvPr id="6" name="Picture 5"/>
          <p:cNvPicPr/>
          <p:nvPr/>
        </p:nvPicPr>
        <p:blipFill>
          <a:blip r:embed="rId2"/>
          <a:stretch>
            <a:fillRect/>
          </a:stretch>
        </p:blipFill>
        <p:spPr>
          <a:xfrm>
            <a:off x="738020" y="917509"/>
            <a:ext cx="6200011" cy="5452532"/>
          </a:xfrm>
          <a:prstGeom prst="rect">
            <a:avLst/>
          </a:prstGeom>
        </p:spPr>
      </p:pic>
      <p:pic>
        <p:nvPicPr>
          <p:cNvPr id="9" name="Picture 8"/>
          <p:cNvPicPr/>
          <p:nvPr/>
        </p:nvPicPr>
        <p:blipFill>
          <a:blip r:embed="rId3"/>
          <a:stretch>
            <a:fillRect/>
          </a:stretch>
        </p:blipFill>
        <p:spPr>
          <a:xfrm>
            <a:off x="6938031" y="3032578"/>
            <a:ext cx="4958164" cy="3337463"/>
          </a:xfrm>
          <a:prstGeom prst="rect">
            <a:avLst/>
          </a:prstGeom>
        </p:spPr>
      </p:pic>
    </p:spTree>
    <p:extLst>
      <p:ext uri="{BB962C8B-B14F-4D97-AF65-F5344CB8AC3E}">
        <p14:creationId xmlns:p14="http://schemas.microsoft.com/office/powerpoint/2010/main" val="879760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8FEE11-3AE3-43C5-904F-A8A4B47E4DCD}"/>
              </a:ext>
            </a:extLst>
          </p:cNvPr>
          <p:cNvSpPr txBox="1">
            <a:spLocks/>
          </p:cNvSpPr>
          <p:nvPr/>
        </p:nvSpPr>
        <p:spPr>
          <a:xfrm>
            <a:off x="3729207" y="349672"/>
            <a:ext cx="5059191" cy="61552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rtl="0">
              <a:spcBef>
                <a:spcPts val="1200"/>
              </a:spcBef>
              <a:spcAft>
                <a:spcPts val="0"/>
              </a:spcAft>
            </a:pPr>
            <a:r>
              <a:rPr lang="vi-VN" sz="2400" b="1" dirty="0">
                <a:solidFill>
                  <a:schemeClr val="tx1"/>
                </a:solidFill>
                <a:effectLst/>
              </a:rPr>
              <a:t>Kết quả sau khi chạy</a:t>
            </a:r>
          </a:p>
        </p:txBody>
      </p:sp>
      <p:pic>
        <p:nvPicPr>
          <p:cNvPr id="5" name="Picture 4"/>
          <p:cNvPicPr/>
          <p:nvPr/>
        </p:nvPicPr>
        <p:blipFill>
          <a:blip r:embed="rId2"/>
          <a:stretch>
            <a:fillRect/>
          </a:stretch>
        </p:blipFill>
        <p:spPr>
          <a:xfrm>
            <a:off x="1194319" y="1084079"/>
            <a:ext cx="10261600" cy="5181600"/>
          </a:xfrm>
          <a:prstGeom prst="rect">
            <a:avLst/>
          </a:prstGeom>
        </p:spPr>
      </p:pic>
    </p:spTree>
    <p:extLst>
      <p:ext uri="{BB962C8B-B14F-4D97-AF65-F5344CB8AC3E}">
        <p14:creationId xmlns:p14="http://schemas.microsoft.com/office/powerpoint/2010/main" val="525585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8FEE11-3AE3-43C5-904F-A8A4B47E4DCD}"/>
              </a:ext>
            </a:extLst>
          </p:cNvPr>
          <p:cNvSpPr txBox="1">
            <a:spLocks/>
          </p:cNvSpPr>
          <p:nvPr/>
        </p:nvSpPr>
        <p:spPr>
          <a:xfrm>
            <a:off x="1892249" y="286447"/>
            <a:ext cx="5156301" cy="61552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a:spcBef>
                <a:spcPts val="1200"/>
              </a:spcBef>
            </a:pPr>
            <a:r>
              <a:rPr lang="en-US" sz="3200" b="1">
                <a:solidFill>
                  <a:schemeClr val="tx1"/>
                </a:solidFill>
                <a:latin typeface="Arial" panose="020B0604020202020204" pitchFamily="34" charset="0"/>
                <a:cs typeface="Arial" panose="020B0604020202020204" pitchFamily="34" charset="0"/>
              </a:rPr>
              <a:t>6.</a:t>
            </a:r>
            <a:r>
              <a:rPr lang="vi-VN" sz="3200" b="1">
                <a:solidFill>
                  <a:schemeClr val="tx1"/>
                </a:solidFill>
                <a:latin typeface="Arial" panose="020B0604020202020204" pitchFamily="34" charset="0"/>
                <a:cs typeface="Arial" panose="020B0604020202020204" pitchFamily="34" charset="0"/>
              </a:rPr>
              <a:t>Kết quả</a:t>
            </a:r>
            <a:r>
              <a:rPr lang="en-US" sz="3200" b="1">
                <a:solidFill>
                  <a:schemeClr val="tx1"/>
                </a:solidFill>
                <a:latin typeface="Arial" panose="020B0604020202020204" pitchFamily="34" charset="0"/>
                <a:cs typeface="Arial" panose="020B0604020202020204" pitchFamily="34" charset="0"/>
              </a:rPr>
              <a:t> thực nghiệm</a:t>
            </a:r>
            <a:endParaRPr lang="vi-VN" sz="3200" b="1" dirty="0">
              <a:solidFill>
                <a:schemeClr val="tx1"/>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B3866D9-7FEC-B91D-3A3A-841DEB8B81CC}"/>
              </a:ext>
            </a:extLst>
          </p:cNvPr>
          <p:cNvSpPr txBox="1"/>
          <p:nvPr/>
        </p:nvSpPr>
        <p:spPr>
          <a:xfrm>
            <a:off x="3797558" y="1268963"/>
            <a:ext cx="7725748" cy="830997"/>
          </a:xfrm>
          <a:prstGeom prst="rect">
            <a:avLst/>
          </a:prstGeom>
          <a:noFill/>
        </p:spPr>
        <p:txBody>
          <a:bodyPr wrap="square" rtlCol="0">
            <a:spAutoFit/>
          </a:bodyPr>
          <a:lstStyle/>
          <a:p>
            <a:pPr algn="just"/>
            <a:r>
              <a:rPr lang="vi-VN" sz="2400" b="1"/>
              <a:t>Thiết lập:</a:t>
            </a:r>
            <a:r>
              <a:rPr lang="vi-VN" sz="2400"/>
              <a:t> Tập dữ liệu được chia theo tỷ lệ </a:t>
            </a:r>
            <a:r>
              <a:rPr lang="vi-VN" sz="2400" b="1"/>
              <a:t>80% huấn luyện (Training)</a:t>
            </a:r>
            <a:r>
              <a:rPr lang="vi-VN" sz="2400"/>
              <a:t> và </a:t>
            </a:r>
            <a:r>
              <a:rPr lang="vi-VN" sz="2400" b="1"/>
              <a:t>20% kiểm thử (Testing)</a:t>
            </a:r>
            <a:endParaRPr lang="en-US" sz="2400"/>
          </a:p>
        </p:txBody>
      </p:sp>
      <p:sp>
        <p:nvSpPr>
          <p:cNvPr id="5" name="Arrow: Right 4">
            <a:extLst>
              <a:ext uri="{FF2B5EF4-FFF2-40B4-BE49-F238E27FC236}">
                <a16:creationId xmlns:a16="http://schemas.microsoft.com/office/drawing/2014/main" id="{C60B3947-B9CE-F9B5-9B4C-68D7E7E06F3E}"/>
              </a:ext>
            </a:extLst>
          </p:cNvPr>
          <p:cNvSpPr/>
          <p:nvPr/>
        </p:nvSpPr>
        <p:spPr>
          <a:xfrm>
            <a:off x="2864497" y="1483566"/>
            <a:ext cx="541176" cy="4012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E7994BC-433C-A3AE-F3F8-361C3011F909}"/>
              </a:ext>
            </a:extLst>
          </p:cNvPr>
          <p:cNvSpPr txBox="1"/>
          <p:nvPr/>
        </p:nvSpPr>
        <p:spPr>
          <a:xfrm>
            <a:off x="3797558" y="2466949"/>
            <a:ext cx="7725748" cy="830997"/>
          </a:xfrm>
          <a:prstGeom prst="rect">
            <a:avLst/>
          </a:prstGeom>
          <a:noFill/>
        </p:spPr>
        <p:txBody>
          <a:bodyPr wrap="square" rtlCol="0">
            <a:spAutoFit/>
          </a:bodyPr>
          <a:lstStyle/>
          <a:p>
            <a:pPr algn="just"/>
            <a:r>
              <a:rPr lang="en-US" sz="2400" b="1">
                <a:latin typeface="Arial" panose="020B0604020202020204" pitchFamily="34" charset="0"/>
                <a:cs typeface="Arial" panose="020B0604020202020204" pitchFamily="34" charset="0"/>
              </a:rPr>
              <a:t>Kết quả:</a:t>
            </a:r>
            <a:r>
              <a:rPr lang="en-US" sz="2400">
                <a:latin typeface="Arial" panose="020B0604020202020204" pitchFamily="34" charset="0"/>
                <a:cs typeface="Arial" panose="020B0604020202020204" pitchFamily="34" charset="0"/>
              </a:rPr>
              <a:t> Mô hình đạt độ chính xác khoảng </a:t>
            </a:r>
            <a:r>
              <a:rPr lang="en-US" sz="2400" b="1">
                <a:solidFill>
                  <a:srgbClr val="FF0000"/>
                </a:solidFill>
                <a:latin typeface="Arial" panose="020B0604020202020204" pitchFamily="34" charset="0"/>
                <a:cs typeface="Arial" panose="020B0604020202020204" pitchFamily="34" charset="0"/>
              </a:rPr>
              <a:t>70.78%</a:t>
            </a:r>
            <a:r>
              <a:rPr lang="en-US" sz="2400">
                <a:latin typeface="Arial" panose="020B0604020202020204" pitchFamily="34" charset="0"/>
                <a:cs typeface="Arial" panose="020B0604020202020204" pitchFamily="34" charset="0"/>
              </a:rPr>
              <a:t> trên tập dữ liệu kiểm thử.</a:t>
            </a:r>
          </a:p>
        </p:txBody>
      </p:sp>
      <p:sp>
        <p:nvSpPr>
          <p:cNvPr id="8" name="Arrow: Right 7">
            <a:extLst>
              <a:ext uri="{FF2B5EF4-FFF2-40B4-BE49-F238E27FC236}">
                <a16:creationId xmlns:a16="http://schemas.microsoft.com/office/drawing/2014/main" id="{9FD9A977-DFEE-28A5-782C-1898A2DDAAD5}"/>
              </a:ext>
            </a:extLst>
          </p:cNvPr>
          <p:cNvSpPr/>
          <p:nvPr/>
        </p:nvSpPr>
        <p:spPr>
          <a:xfrm>
            <a:off x="2864497" y="2681838"/>
            <a:ext cx="541176" cy="4012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4E45701-31BE-2443-8B8D-2BB7300A3792}"/>
              </a:ext>
            </a:extLst>
          </p:cNvPr>
          <p:cNvSpPr txBox="1"/>
          <p:nvPr/>
        </p:nvSpPr>
        <p:spPr>
          <a:xfrm>
            <a:off x="3797558" y="3664935"/>
            <a:ext cx="7725748" cy="1200329"/>
          </a:xfrm>
          <a:prstGeom prst="rect">
            <a:avLst/>
          </a:prstGeom>
          <a:noFill/>
        </p:spPr>
        <p:txBody>
          <a:bodyPr wrap="square" rtlCol="0">
            <a:spAutoFit/>
          </a:bodyPr>
          <a:lstStyle/>
          <a:p>
            <a:pPr algn="just"/>
            <a:r>
              <a:rPr lang="vi-VN" sz="2400" b="1"/>
              <a:t>Ứng dụng:</a:t>
            </a:r>
            <a:r>
              <a:rPr lang="vi-VN" sz="2400"/>
              <a:t> Chương trình cho phép nhập 8 thông số sức khỏe và trả về kết luận dự đoán (Ví dụ: "Có khả năng mắc bệnh tiểu đường").</a:t>
            </a:r>
            <a:endParaRPr lang="en-US" sz="2400">
              <a:latin typeface="Arial" panose="020B0604020202020204" pitchFamily="34" charset="0"/>
              <a:cs typeface="Arial" panose="020B0604020202020204" pitchFamily="34" charset="0"/>
            </a:endParaRPr>
          </a:p>
        </p:txBody>
      </p:sp>
      <p:sp>
        <p:nvSpPr>
          <p:cNvPr id="11" name="Arrow: Right 10">
            <a:extLst>
              <a:ext uri="{FF2B5EF4-FFF2-40B4-BE49-F238E27FC236}">
                <a16:creationId xmlns:a16="http://schemas.microsoft.com/office/drawing/2014/main" id="{206E0A59-B951-6E00-2C02-DB9955C5562D}"/>
              </a:ext>
            </a:extLst>
          </p:cNvPr>
          <p:cNvSpPr/>
          <p:nvPr/>
        </p:nvSpPr>
        <p:spPr>
          <a:xfrm>
            <a:off x="2864497" y="4064490"/>
            <a:ext cx="541176" cy="4012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7377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2983F-E400-FE0F-EB50-DF0C188EB82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80D7187-3C0B-3554-AB22-FA01C951903B}"/>
              </a:ext>
            </a:extLst>
          </p:cNvPr>
          <p:cNvSpPr txBox="1">
            <a:spLocks/>
          </p:cNvSpPr>
          <p:nvPr/>
        </p:nvSpPr>
        <p:spPr>
          <a:xfrm>
            <a:off x="1435049" y="376781"/>
            <a:ext cx="6589278" cy="61552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pPr marL="269989" algn="ctr">
              <a:spcBef>
                <a:spcPts val="1200"/>
              </a:spcBef>
            </a:pPr>
            <a:r>
              <a:rPr lang="en-US" sz="4000" b="1">
                <a:solidFill>
                  <a:schemeClr val="tx1"/>
                </a:solidFill>
                <a:latin typeface="Arial" panose="020B0604020202020204" pitchFamily="34" charset="0"/>
                <a:cs typeface="Arial" panose="020B0604020202020204" pitchFamily="34" charset="0"/>
              </a:rPr>
              <a:t>7. Đánh giá và kết luận</a:t>
            </a:r>
            <a:endParaRPr lang="vi-VN" sz="4000" b="1" dirty="0">
              <a:solidFill>
                <a:schemeClr val="tx1"/>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8620F16-58C4-90D4-24B3-EDE859113EAC}"/>
              </a:ext>
            </a:extLst>
          </p:cNvPr>
          <p:cNvSpPr txBox="1"/>
          <p:nvPr/>
        </p:nvSpPr>
        <p:spPr>
          <a:xfrm>
            <a:off x="3797558" y="1268963"/>
            <a:ext cx="7725748" cy="1569660"/>
          </a:xfrm>
          <a:prstGeom prst="rect">
            <a:avLst/>
          </a:prstGeom>
          <a:noFill/>
        </p:spPr>
        <p:txBody>
          <a:bodyPr wrap="square" rtlCol="0">
            <a:spAutoFit/>
          </a:bodyPr>
          <a:lstStyle/>
          <a:p>
            <a:pPr algn="just"/>
            <a:r>
              <a:rPr lang="en-US" sz="2400" b="1"/>
              <a:t>Ư</a:t>
            </a:r>
            <a:r>
              <a:rPr lang="vi-VN" sz="2400" b="1"/>
              <a:t>u điểm:</a:t>
            </a:r>
            <a:r>
              <a:rPr lang="vi-VN" sz="2400"/>
              <a:t> Đã hệ thống hóa được lý thuyết và xây dựng thành công hệ thống hoàn chỉnh từ xử lý dữ liệu đến dự đoán. Thuật toán đơn giản, dễ cài đặt và chạy nhanh.</a:t>
            </a:r>
            <a:endParaRPr lang="en-US" sz="2400"/>
          </a:p>
        </p:txBody>
      </p:sp>
      <p:sp>
        <p:nvSpPr>
          <p:cNvPr id="5" name="Arrow: Right 4">
            <a:extLst>
              <a:ext uri="{FF2B5EF4-FFF2-40B4-BE49-F238E27FC236}">
                <a16:creationId xmlns:a16="http://schemas.microsoft.com/office/drawing/2014/main" id="{3CA3B785-011A-2783-198E-FA1058CD6C95}"/>
              </a:ext>
            </a:extLst>
          </p:cNvPr>
          <p:cNvSpPr/>
          <p:nvPr/>
        </p:nvSpPr>
        <p:spPr>
          <a:xfrm>
            <a:off x="2864497" y="1435855"/>
            <a:ext cx="541176" cy="4012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0B01F3B-44F2-E854-B056-766243705127}"/>
              </a:ext>
            </a:extLst>
          </p:cNvPr>
          <p:cNvSpPr txBox="1"/>
          <p:nvPr/>
        </p:nvSpPr>
        <p:spPr>
          <a:xfrm>
            <a:off x="3797558" y="3073290"/>
            <a:ext cx="7725748" cy="1200329"/>
          </a:xfrm>
          <a:prstGeom prst="rect">
            <a:avLst/>
          </a:prstGeom>
          <a:noFill/>
        </p:spPr>
        <p:txBody>
          <a:bodyPr wrap="square" rtlCol="0">
            <a:spAutoFit/>
          </a:bodyPr>
          <a:lstStyle/>
          <a:p>
            <a:pPr algn="just"/>
            <a:r>
              <a:rPr lang="vi-VN" sz="2400" b="1"/>
              <a:t>Hạn chế:</a:t>
            </a:r>
            <a:r>
              <a:rPr lang="vi-VN" sz="2400"/>
              <a:t> Giả định các thuộc tính độc lập của Naive Bayes chưa phản ánh đúng mối tương quan phức tạp trong y sinh. Số lượng mẫu dữ liệu huấn luyện còn ít</a:t>
            </a:r>
            <a:r>
              <a:rPr lang="en-US" sz="2400"/>
              <a:t>.</a:t>
            </a:r>
            <a:endParaRPr lang="en-US" sz="2400">
              <a:latin typeface="Arial" panose="020B0604020202020204" pitchFamily="34" charset="0"/>
              <a:cs typeface="Arial" panose="020B0604020202020204" pitchFamily="34" charset="0"/>
            </a:endParaRPr>
          </a:p>
        </p:txBody>
      </p:sp>
      <p:sp>
        <p:nvSpPr>
          <p:cNvPr id="11" name="Arrow: Right 10">
            <a:extLst>
              <a:ext uri="{FF2B5EF4-FFF2-40B4-BE49-F238E27FC236}">
                <a16:creationId xmlns:a16="http://schemas.microsoft.com/office/drawing/2014/main" id="{E219675A-AA12-EDFF-A161-80332B695BC2}"/>
              </a:ext>
            </a:extLst>
          </p:cNvPr>
          <p:cNvSpPr/>
          <p:nvPr/>
        </p:nvSpPr>
        <p:spPr>
          <a:xfrm>
            <a:off x="2864497" y="3472845"/>
            <a:ext cx="541176" cy="4012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784437E-C38D-F127-267E-2535F32BE925}"/>
              </a:ext>
            </a:extLst>
          </p:cNvPr>
          <p:cNvSpPr txBox="1"/>
          <p:nvPr/>
        </p:nvSpPr>
        <p:spPr>
          <a:xfrm>
            <a:off x="3797558" y="4789378"/>
            <a:ext cx="7725748" cy="1200329"/>
          </a:xfrm>
          <a:prstGeom prst="rect">
            <a:avLst/>
          </a:prstGeom>
          <a:noFill/>
        </p:spPr>
        <p:txBody>
          <a:bodyPr wrap="square" rtlCol="0">
            <a:spAutoFit/>
          </a:bodyPr>
          <a:lstStyle/>
          <a:p>
            <a:pPr algn="just"/>
            <a:r>
              <a:rPr lang="vi-VN" sz="2400" b="1"/>
              <a:t>Hướng phát triển:</a:t>
            </a:r>
            <a:r>
              <a:rPr lang="vi-VN" sz="2400"/>
              <a:t> Mở rộng tập dữ liệu huấn luyện và xây dựng giao diện </a:t>
            </a:r>
            <a:r>
              <a:rPr lang="vi-VN" sz="2400" b="1"/>
              <a:t>Web/App</a:t>
            </a:r>
            <a:r>
              <a:rPr lang="vi-VN" sz="2400"/>
              <a:t> trực quan cho bác sĩ sử dụng</a:t>
            </a:r>
            <a:endParaRPr lang="en-US" sz="2400">
              <a:latin typeface="Arial" panose="020B0604020202020204" pitchFamily="34" charset="0"/>
              <a:cs typeface="Arial" panose="020B0604020202020204" pitchFamily="34" charset="0"/>
            </a:endParaRPr>
          </a:p>
        </p:txBody>
      </p:sp>
      <p:sp>
        <p:nvSpPr>
          <p:cNvPr id="10" name="Arrow: Right 9">
            <a:extLst>
              <a:ext uri="{FF2B5EF4-FFF2-40B4-BE49-F238E27FC236}">
                <a16:creationId xmlns:a16="http://schemas.microsoft.com/office/drawing/2014/main" id="{D9E9C1ED-2705-80B0-E9D6-630A193253F9}"/>
              </a:ext>
            </a:extLst>
          </p:cNvPr>
          <p:cNvSpPr/>
          <p:nvPr/>
        </p:nvSpPr>
        <p:spPr>
          <a:xfrm>
            <a:off x="2864497" y="5020928"/>
            <a:ext cx="541176" cy="4012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1799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02D4-FFFA-8560-8689-4A8F4D1499B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AAEB1FC-C693-DC01-F70B-4244145CE91E}"/>
              </a:ext>
            </a:extLst>
          </p:cNvPr>
          <p:cNvSpPr txBox="1"/>
          <p:nvPr/>
        </p:nvSpPr>
        <p:spPr>
          <a:xfrm>
            <a:off x="1281404" y="2239347"/>
            <a:ext cx="9629191" cy="1754326"/>
          </a:xfrm>
          <a:prstGeom prst="rect">
            <a:avLst/>
          </a:prstGeom>
          <a:noFill/>
        </p:spPr>
        <p:txBody>
          <a:bodyPr wrap="square" rtlCol="0">
            <a:spAutoFit/>
          </a:bodyPr>
          <a:lstStyle/>
          <a:p>
            <a:pPr algn="ctr"/>
            <a:r>
              <a:rPr lang="vi-VN" sz="5400" b="1"/>
              <a:t>CẢM ƠN THẦY VÀ CÁC BẠN ĐÃ LẮNG NGHE</a:t>
            </a:r>
            <a:endParaRPr lang="en-US" sz="5400" b="1"/>
          </a:p>
        </p:txBody>
      </p:sp>
    </p:spTree>
    <p:extLst>
      <p:ext uri="{BB962C8B-B14F-4D97-AF65-F5344CB8AC3E}">
        <p14:creationId xmlns:p14="http://schemas.microsoft.com/office/powerpoint/2010/main" val="1629412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
  <TotalTime>348</TotalTime>
  <Words>767</Words>
  <Application>Microsoft Office PowerPoint</Application>
  <PresentationFormat>Widescreen</PresentationFormat>
  <Paragraphs>68</Paragraphs>
  <Slides>19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Corbel</vt:lpstr>
      <vt:lpstr>Times New Roman</vt:lpstr>
      <vt:lpstr>Trebuchet MS</vt:lpstr>
      <vt:lpstr>Wingdings</vt:lpstr>
      <vt:lpstr>Wingdings 3</vt:lpstr>
      <vt:lpstr>Parallax</vt:lpstr>
      <vt:lpstr>Facet</vt:lpstr>
      <vt:lpstr>NHÓM 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5.Một số hàm cài đặt chính </vt:lpstr>
      <vt:lpstr> Đọc dữ liệu từ file CSV.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BỘ CÔNG THƯƠNG   TRƯỜNG ĐẠI HỌC CÔNG NGHIỆP HÀ NỘI</dc:title>
  <dc:creator>HQ Lap</dc:creator>
  <cp:lastModifiedBy>trung pham</cp:lastModifiedBy>
  <cp:revision>10</cp:revision>
  <dcterms:created xsi:type="dcterms:W3CDTF">2025-12-11T16:15:42Z</dcterms:created>
  <dcterms:modified xsi:type="dcterms:W3CDTF">2025-12-12T15:25:17Z</dcterms:modified>
</cp:coreProperties>
</file>